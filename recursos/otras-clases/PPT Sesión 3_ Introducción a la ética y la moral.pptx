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094" autoAdjust="0"/>
  </p:normalViewPr>
  <p:slideViewPr>
    <p:cSldViewPr snapToGrid="0" snapToObjects="1">
      <p:cViewPr varScale="1">
        <p:scale>
          <a:sx n="42" d="100"/>
          <a:sy n="42" d="100"/>
        </p:scale>
        <p:origin x="15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95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2A3B4C"/>
                </a:solidFill>
                <a:latin typeface="Georgia"/>
              </a:defRPr>
            </a:pPr>
            <a:r>
              <a:rPr dirty="0"/>
              <a:t>Ética y Psicología</a:t>
            </a:r>
          </a:p>
          <a:p>
            <a:pPr>
              <a:spcBef>
                <a:spcPts val="800"/>
              </a:spcBef>
              <a:defRPr sz="2400">
                <a:solidFill>
                  <a:srgbClr val="C85A32"/>
                </a:solidFill>
                <a:latin typeface="Georgia"/>
              </a:defRPr>
            </a:pPr>
            <a:r>
              <a:rPr lang="es-CL" dirty="0"/>
              <a:t>SESIÓN 3</a:t>
            </a:r>
          </a:p>
          <a:p>
            <a:pPr>
              <a:spcBef>
                <a:spcPts val="800"/>
              </a:spcBef>
              <a:defRPr sz="2400">
                <a:solidFill>
                  <a:srgbClr val="C85A32"/>
                </a:solidFill>
                <a:latin typeface="Georgia"/>
              </a:defRPr>
            </a:pPr>
            <a:r>
              <a:rPr dirty="0" err="1"/>
              <a:t>Introducción</a:t>
            </a:r>
            <a:r>
              <a:rPr dirty="0"/>
              <a:t> a la Ética y la Moral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840480"/>
            <a:ext cx="4114800" cy="38100"/>
          </a:xfrm>
          <a:prstGeom prst="rect">
            <a:avLst/>
          </a:prstGeom>
          <a:solidFill>
            <a:srgbClr val="7E7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rPr dirty="0"/>
              <a:t>Universidad Alberto Hurtado • </a:t>
            </a:r>
            <a:r>
              <a:rPr dirty="0" err="1"/>
              <a:t>Facultad</a:t>
            </a:r>
            <a:r>
              <a:rPr dirty="0"/>
              <a:t> de Psicología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Reflexión Inicial: La Ética en Primera Persona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Preguntas gatilladoras sobre el ser y la práctica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769326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rPr dirty="0"/>
              <a:t>¿</a:t>
            </a:r>
            <a:r>
              <a:rPr dirty="0" err="1"/>
              <a:t>Alguna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han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académica</a:t>
            </a:r>
            <a:r>
              <a:rPr dirty="0"/>
              <a:t> o </a:t>
            </a:r>
            <a:r>
              <a:rPr dirty="0" err="1"/>
              <a:t>profesional</a:t>
            </a:r>
            <a:r>
              <a:rPr dirty="0"/>
              <a:t> no solo puso a </a:t>
            </a:r>
            <a:r>
              <a:rPr dirty="0" err="1"/>
              <a:t>prueba</a:t>
            </a:r>
            <a:r>
              <a:rPr dirty="0"/>
              <a:t> sus </a:t>
            </a:r>
            <a:r>
              <a:rPr dirty="0" err="1"/>
              <a:t>conocimientos</a:t>
            </a:r>
            <a:r>
              <a:rPr dirty="0"/>
              <a:t>, </a:t>
            </a:r>
            <a:r>
              <a:rPr dirty="0" err="1"/>
              <a:t>sino</a:t>
            </a:r>
            <a:r>
              <a:rPr dirty="0"/>
              <a:t> </a:t>
            </a:r>
            <a:r>
              <a:rPr dirty="0" err="1"/>
              <a:t>quiénes</a:t>
            </a:r>
            <a:r>
              <a:rPr dirty="0"/>
              <a:t> son </a:t>
            </a:r>
            <a:r>
              <a:rPr dirty="0" err="1"/>
              <a:t>fundamentalmente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personas?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22720" y="2497976"/>
            <a:ext cx="466344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¿</a:t>
            </a:r>
            <a:r>
              <a:rPr sz="2000" dirty="0" err="1"/>
              <a:t>Qué</a:t>
            </a:r>
            <a:r>
              <a:rPr sz="2000" dirty="0"/>
              <a:t> </a:t>
            </a:r>
            <a:r>
              <a:rPr sz="2000" dirty="0" err="1"/>
              <a:t>sintieron</a:t>
            </a:r>
            <a:r>
              <a:rPr sz="2000" dirty="0"/>
              <a:t> en el </a:t>
            </a:r>
            <a:r>
              <a:rPr sz="2000" dirty="0" err="1"/>
              <a:t>cuerpo</a:t>
            </a:r>
            <a:r>
              <a:rPr sz="2000" dirty="0"/>
              <a:t> o en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estado</a:t>
            </a:r>
            <a:r>
              <a:rPr sz="2000" dirty="0"/>
              <a:t> de </a:t>
            </a:r>
            <a:r>
              <a:rPr sz="2000" dirty="0" err="1"/>
              <a:t>ánimo</a:t>
            </a:r>
            <a:r>
              <a:rPr sz="2000" dirty="0"/>
              <a:t> antes, </a:t>
            </a:r>
            <a:r>
              <a:rPr sz="2000" dirty="0" err="1"/>
              <a:t>durante</a:t>
            </a:r>
            <a:r>
              <a:rPr sz="2000" dirty="0"/>
              <a:t> y </a:t>
            </a:r>
            <a:r>
              <a:rPr sz="2000" dirty="0" err="1"/>
              <a:t>después</a:t>
            </a:r>
            <a:r>
              <a:rPr sz="2000" dirty="0"/>
              <a:t> de </a:t>
            </a:r>
            <a:r>
              <a:rPr sz="2000" dirty="0" err="1"/>
              <a:t>tomar</a:t>
            </a:r>
            <a:r>
              <a:rPr sz="2000" dirty="0"/>
              <a:t> </a:t>
            </a:r>
            <a:r>
              <a:rPr sz="2000" dirty="0" err="1"/>
              <a:t>esa</a:t>
            </a:r>
            <a:r>
              <a:rPr sz="2000" dirty="0"/>
              <a:t> </a:t>
            </a:r>
            <a:r>
              <a:rPr sz="2000" dirty="0" err="1"/>
              <a:t>decisión</a:t>
            </a:r>
            <a:r>
              <a:rPr sz="2000" dirty="0"/>
              <a:t>?</a:t>
            </a:r>
          </a:p>
          <a:p>
            <a:pPr>
              <a:defRPr sz="1500">
                <a:solidFill>
                  <a:srgbClr val="2B2B2B"/>
                </a:solidFill>
                <a:latin typeface="Arial"/>
              </a:defRPr>
            </a:pPr>
            <a:endParaRPr lang="es-CL" sz="2000" dirty="0"/>
          </a:p>
          <a:p>
            <a:pPr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¿Por </a:t>
            </a:r>
            <a:r>
              <a:rPr sz="2000" dirty="0" err="1"/>
              <a:t>qué</a:t>
            </a:r>
            <a:r>
              <a:rPr sz="2000" dirty="0"/>
              <a:t> </a:t>
            </a:r>
            <a:r>
              <a:rPr sz="2000" dirty="0" err="1"/>
              <a:t>creen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ciertas</a:t>
            </a:r>
            <a:r>
              <a:rPr sz="2000" dirty="0"/>
              <a:t> </a:t>
            </a:r>
            <a:r>
              <a:rPr sz="2000" dirty="0" err="1"/>
              <a:t>elecciones</a:t>
            </a:r>
            <a:r>
              <a:rPr sz="2000" dirty="0"/>
              <a:t> </a:t>
            </a:r>
            <a:r>
              <a:rPr sz="2000" dirty="0" err="1"/>
              <a:t>nos</a:t>
            </a:r>
            <a:r>
              <a:rPr sz="2000" dirty="0"/>
              <a:t> </a:t>
            </a:r>
            <a:r>
              <a:rPr sz="2000" dirty="0" err="1"/>
              <a:t>pesan</a:t>
            </a:r>
            <a:r>
              <a:rPr sz="2000" dirty="0"/>
              <a:t> </a:t>
            </a:r>
            <a:r>
              <a:rPr sz="2000" dirty="0" err="1"/>
              <a:t>más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otras</a:t>
            </a:r>
            <a:r>
              <a:rPr sz="2000" dirty="0"/>
              <a:t> en </a:t>
            </a:r>
            <a:r>
              <a:rPr sz="2000" dirty="0" err="1"/>
              <a:t>nuestra</a:t>
            </a:r>
            <a:r>
              <a:rPr sz="2000" dirty="0"/>
              <a:t> </a:t>
            </a:r>
            <a:r>
              <a:rPr sz="2000" dirty="0" err="1"/>
              <a:t>vida</a:t>
            </a:r>
            <a:r>
              <a:rPr sz="2000" dirty="0"/>
              <a:t> </a:t>
            </a:r>
            <a:r>
              <a:rPr sz="2000" dirty="0" err="1"/>
              <a:t>cotidiana</a:t>
            </a:r>
            <a:r>
              <a:rPr sz="2000" dirty="0"/>
              <a:t> y pre-</a:t>
            </a:r>
            <a:r>
              <a:rPr sz="2000" dirty="0" err="1"/>
              <a:t>profesional</a:t>
            </a:r>
            <a:r>
              <a:rPr sz="2000"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Reflexión Inicial: La Normalidad de la 'Costumbre'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Análisis crítico de nuestro entorno cultural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6320" y="2503438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2B2B2B"/>
                </a:solidFill>
                <a:latin typeface="Georgia"/>
              </a:defRPr>
            </a:pPr>
            <a:r>
              <a:rPr sz="2400" dirty="0"/>
              <a:t>¿</a:t>
            </a:r>
            <a:r>
              <a:rPr sz="2400" dirty="0" err="1"/>
              <a:t>Existen</a:t>
            </a:r>
            <a:r>
              <a:rPr sz="2400" dirty="0"/>
              <a:t> </a:t>
            </a:r>
            <a:r>
              <a:rPr sz="2400" dirty="0" err="1"/>
              <a:t>costumbres</a:t>
            </a:r>
            <a:r>
              <a:rPr sz="2400" dirty="0"/>
              <a:t> en </a:t>
            </a:r>
            <a:r>
              <a:rPr sz="2400" dirty="0" err="1"/>
              <a:t>nuestra</a:t>
            </a:r>
            <a:r>
              <a:rPr sz="2400" dirty="0"/>
              <a:t> </a:t>
            </a:r>
            <a:r>
              <a:rPr sz="2400" dirty="0" err="1"/>
              <a:t>sociedad</a:t>
            </a:r>
            <a:r>
              <a:rPr sz="2400" dirty="0"/>
              <a:t> actual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consideramos</a:t>
            </a:r>
            <a:r>
              <a:rPr sz="2400" dirty="0"/>
              <a:t> '</a:t>
            </a:r>
            <a:r>
              <a:rPr sz="2400" dirty="0" err="1"/>
              <a:t>normales</a:t>
            </a:r>
            <a:r>
              <a:rPr sz="2400" dirty="0"/>
              <a:t>' hoy, </a:t>
            </a:r>
            <a:r>
              <a:rPr sz="2400" dirty="0" err="1"/>
              <a:t>pero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íntimamente</a:t>
            </a:r>
            <a:r>
              <a:rPr sz="2400" dirty="0"/>
              <a:t> </a:t>
            </a:r>
            <a:r>
              <a:rPr sz="2400" dirty="0" err="1"/>
              <a:t>sienten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dañan</a:t>
            </a:r>
            <a:r>
              <a:rPr sz="2400" dirty="0"/>
              <a:t> la </a:t>
            </a:r>
            <a:r>
              <a:rPr sz="2400" dirty="0" err="1"/>
              <a:t>dignidad</a:t>
            </a:r>
            <a:r>
              <a:rPr sz="2400" dirty="0"/>
              <a:t> o el </a:t>
            </a:r>
            <a:r>
              <a:rPr sz="2400" dirty="0" err="1"/>
              <a:t>bienestar</a:t>
            </a:r>
            <a:r>
              <a:rPr sz="2400" dirty="0"/>
              <a:t> </a:t>
            </a:r>
            <a:r>
              <a:rPr sz="2400" dirty="0" err="1"/>
              <a:t>psicológico</a:t>
            </a:r>
            <a:r>
              <a:rPr sz="2400" dirty="0"/>
              <a:t> de </a:t>
            </a:r>
            <a:r>
              <a:rPr sz="2400" dirty="0" err="1"/>
              <a:t>otros</a:t>
            </a:r>
            <a:r>
              <a:rPr sz="240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59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rPr sz="2400" dirty="0"/>
              <a:t>¿</a:t>
            </a:r>
            <a:r>
              <a:rPr sz="2400" dirty="0" err="1"/>
              <a:t>Qué</a:t>
            </a:r>
            <a:r>
              <a:rPr sz="2400" dirty="0"/>
              <a:t> </a:t>
            </a:r>
            <a:r>
              <a:rPr lang="es-CL" sz="2400" dirty="0"/>
              <a:t>se les </a:t>
            </a:r>
            <a:r>
              <a:rPr sz="2400" dirty="0" err="1"/>
              <a:t>exige</a:t>
            </a:r>
            <a:r>
              <a:rPr sz="2400" dirty="0"/>
              <a:t>, </a:t>
            </a:r>
            <a:r>
              <a:rPr sz="2400" dirty="0" err="1"/>
              <a:t>como</a:t>
            </a:r>
            <a:r>
              <a:rPr sz="2400" dirty="0"/>
              <a:t> </a:t>
            </a:r>
            <a:r>
              <a:rPr sz="2400" dirty="0" err="1"/>
              <a:t>futuros</a:t>
            </a:r>
            <a:r>
              <a:rPr sz="2400" dirty="0"/>
              <a:t> </a:t>
            </a:r>
            <a:r>
              <a:rPr sz="2400" dirty="0" err="1"/>
              <a:t>profesionales</a:t>
            </a:r>
            <a:r>
              <a:rPr sz="2400" dirty="0"/>
              <a:t> de la </a:t>
            </a:r>
            <a:r>
              <a:rPr sz="2400" dirty="0" err="1"/>
              <a:t>salud</a:t>
            </a:r>
            <a:r>
              <a:rPr sz="2400" dirty="0"/>
              <a:t> mental, </a:t>
            </a:r>
            <a:r>
              <a:rPr lang="es-CL" sz="2400" dirty="0"/>
              <a:t>al enfrentarse </a:t>
            </a:r>
            <a:r>
              <a:rPr sz="2400" dirty="0"/>
              <a:t>a </a:t>
            </a:r>
            <a:r>
              <a:rPr sz="2400" dirty="0" err="1"/>
              <a:t>esas</a:t>
            </a:r>
            <a:r>
              <a:rPr sz="2400" dirty="0"/>
              <a:t> </a:t>
            </a:r>
            <a:r>
              <a:rPr sz="2400" dirty="0" err="1"/>
              <a:t>costumbres</a:t>
            </a:r>
            <a:r>
              <a:rPr sz="2400" dirty="0"/>
              <a:t>?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400" dirty="0"/>
              <a:t>La </a:t>
            </a:r>
            <a:r>
              <a:rPr sz="2400" dirty="0" err="1"/>
              <a:t>psicología</a:t>
            </a:r>
            <a:r>
              <a:rPr sz="2400" dirty="0"/>
              <a:t> no es neutral. </a:t>
            </a:r>
            <a:r>
              <a:rPr sz="2400" dirty="0" err="1"/>
              <a:t>Estudiar</a:t>
            </a:r>
            <a:r>
              <a:rPr sz="2400" dirty="0"/>
              <a:t> la </a:t>
            </a:r>
            <a:r>
              <a:rPr sz="2400" dirty="0" err="1"/>
              <a:t>psique</a:t>
            </a:r>
            <a:r>
              <a:rPr sz="2400" dirty="0"/>
              <a:t> </a:t>
            </a:r>
            <a:r>
              <a:rPr sz="2400" dirty="0" err="1"/>
              <a:t>implica</a:t>
            </a:r>
            <a:r>
              <a:rPr sz="2400" dirty="0"/>
              <a:t> </a:t>
            </a:r>
            <a:r>
              <a:rPr sz="2400" dirty="0" err="1"/>
              <a:t>mirar</a:t>
            </a:r>
            <a:r>
              <a:rPr sz="2400" dirty="0"/>
              <a:t> </a:t>
            </a:r>
            <a:r>
              <a:rPr sz="2400" dirty="0" err="1"/>
              <a:t>críticamente</a:t>
            </a:r>
            <a:r>
              <a:rPr sz="2400" dirty="0"/>
              <a:t> las </a:t>
            </a:r>
            <a:r>
              <a:rPr sz="2400" dirty="0" err="1"/>
              <a:t>prácticas</a:t>
            </a:r>
            <a:r>
              <a:rPr sz="2400" dirty="0"/>
              <a:t> </a:t>
            </a:r>
            <a:r>
              <a:rPr sz="2400" dirty="0" err="1"/>
              <a:t>culturales</a:t>
            </a:r>
            <a:r>
              <a:rPr sz="2400" dirty="0"/>
              <a:t> </a:t>
            </a:r>
            <a:r>
              <a:rPr sz="2400" dirty="0" err="1"/>
              <a:t>institucionalizadas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generan</a:t>
            </a:r>
            <a:r>
              <a:rPr sz="2400" dirty="0"/>
              <a:t> </a:t>
            </a:r>
            <a:r>
              <a:rPr sz="2400" dirty="0" err="1"/>
              <a:t>sufrimiento</a:t>
            </a:r>
            <a:r>
              <a:rPr sz="2400" dirty="0"/>
              <a:t> </a:t>
            </a:r>
            <a:r>
              <a:rPr sz="2400" dirty="0" err="1"/>
              <a:t>psíquico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Aproximación Lingüística a la Ética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Las palabras como puertas a la autocomprensión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62656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3B4C"/>
                </a:solidFill>
                <a:latin typeface="Georgia"/>
              </a:defRPr>
            </a:pPr>
            <a:r>
              <a:rPr sz="2000"/>
              <a:t>Êthos (Griego)</a:t>
            </a:r>
          </a:p>
          <a:p>
            <a:pPr>
              <a:spcAft>
                <a:spcPts val="1400"/>
              </a:spcAft>
              <a:defRPr sz="1300" b="1">
                <a:solidFill>
                  <a:srgbClr val="C85A32"/>
                </a:solidFill>
                <a:latin typeface="Arial"/>
              </a:defRPr>
            </a:pPr>
            <a:r>
              <a:rPr sz="2000"/>
              <a:t>El lugar interior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/>
              <a:t>Zenón definía el 'êthos' como el santuario interior, el lugar íntimo donde habita el ser humano.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20624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2011680"/>
            <a:ext cx="2962656" cy="2426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3B4C"/>
                </a:solidFill>
                <a:latin typeface="Georgia"/>
              </a:defRPr>
            </a:pPr>
            <a:r>
              <a:rPr sz="2000" dirty="0" err="1"/>
              <a:t>Carácter</a:t>
            </a:r>
            <a:endParaRPr sz="2000" dirty="0"/>
          </a:p>
          <a:p>
            <a:pPr>
              <a:spcAft>
                <a:spcPts val="1400"/>
              </a:spcAft>
              <a:defRPr sz="13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Modo de ser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Aristóteles, en la </a:t>
            </a:r>
            <a:r>
              <a:rPr lang="es-CL" sz="2000" dirty="0"/>
              <a:t>"</a:t>
            </a:r>
            <a:r>
              <a:rPr sz="2000" dirty="0"/>
              <a:t>Ética a </a:t>
            </a:r>
            <a:r>
              <a:rPr sz="2000" dirty="0" err="1"/>
              <a:t>Nicómaco</a:t>
            </a:r>
            <a:r>
              <a:rPr lang="es-CL" sz="2000" dirty="0"/>
              <a:t>"</a:t>
            </a:r>
            <a:r>
              <a:rPr sz="2000" dirty="0"/>
              <a:t>, define el </a:t>
            </a:r>
            <a:r>
              <a:rPr sz="2000" dirty="0" err="1"/>
              <a:t>êthos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el </a:t>
            </a:r>
            <a:r>
              <a:rPr sz="2000" dirty="0" err="1"/>
              <a:t>carácter</a:t>
            </a:r>
            <a:r>
              <a:rPr sz="2000" dirty="0"/>
              <a:t> o el modo de ser</a:t>
            </a:r>
            <a:r>
              <a:rPr lang="es-CL" sz="2000" dirty="0"/>
              <a:t> (segunda naturaleza)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20624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962656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3B4C"/>
                </a:solidFill>
                <a:latin typeface="Georgia"/>
              </a:defRPr>
            </a:pPr>
            <a:r>
              <a:rPr sz="2000"/>
              <a:t>Apropiación</a:t>
            </a:r>
          </a:p>
          <a:p>
            <a:pPr>
              <a:spcAft>
                <a:spcPts val="1400"/>
              </a:spcAft>
              <a:defRPr sz="1300" b="1">
                <a:solidFill>
                  <a:srgbClr val="C85A32"/>
                </a:solidFill>
                <a:latin typeface="Arial"/>
              </a:defRPr>
            </a:pPr>
            <a:r>
              <a:rPr sz="2000"/>
              <a:t>Un logro biográfico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/>
              <a:t>Este carácter no es innato (no nacemos con él). Se adquiere y se apropia de forma voluntaria a lo largo de la existencia.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La Formación del Carácter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Cómo esculpimos nuestra propia identidad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Chevron 4"/>
          <p:cNvSpPr/>
          <p:nvPr/>
        </p:nvSpPr>
        <p:spPr>
          <a:xfrm>
            <a:off x="4023360" y="2834640"/>
            <a:ext cx="365760" cy="548640"/>
          </a:xfrm>
          <a:prstGeom prst="chevron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743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rPr sz="2000" dirty="0"/>
              <a:t>1. El </a:t>
            </a:r>
            <a:r>
              <a:rPr sz="2000" dirty="0" err="1"/>
              <a:t>Acto</a:t>
            </a:r>
            <a:endParaRPr sz="2000" dirty="0"/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Acciones </a:t>
            </a:r>
            <a:r>
              <a:rPr sz="2000" dirty="0" err="1"/>
              <a:t>concretas</a:t>
            </a:r>
            <a:r>
              <a:rPr sz="2000" dirty="0"/>
              <a:t> e </a:t>
            </a:r>
            <a:r>
              <a:rPr sz="2000" dirty="0" err="1"/>
              <a:t>individuales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realizamos</a:t>
            </a:r>
            <a:r>
              <a:rPr sz="2000" dirty="0"/>
              <a:t> </a:t>
            </a:r>
            <a:r>
              <a:rPr sz="2000" dirty="0" err="1"/>
              <a:t>diariamente</a:t>
            </a:r>
            <a:r>
              <a:rPr sz="2000" dirty="0"/>
              <a:t> en </a:t>
            </a:r>
            <a:r>
              <a:rPr sz="2000" dirty="0" err="1"/>
              <a:t>contextos</a:t>
            </a:r>
            <a:r>
              <a:rPr sz="2000" dirty="0"/>
              <a:t> </a:t>
            </a:r>
            <a:r>
              <a:rPr sz="2000" dirty="0" err="1"/>
              <a:t>específicos</a:t>
            </a:r>
            <a:r>
              <a:rPr sz="20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373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hevron 7"/>
          <p:cNvSpPr/>
          <p:nvPr/>
        </p:nvSpPr>
        <p:spPr>
          <a:xfrm>
            <a:off x="7772400" y="2834640"/>
            <a:ext cx="365760" cy="548640"/>
          </a:xfrm>
          <a:prstGeom prst="chevron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743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rPr sz="2000" dirty="0"/>
              <a:t>2. El </a:t>
            </a:r>
            <a:r>
              <a:rPr sz="2000" dirty="0" err="1"/>
              <a:t>Hábito</a:t>
            </a:r>
            <a:endParaRPr sz="2000" dirty="0"/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repetición</a:t>
            </a:r>
            <a:r>
              <a:rPr sz="2000" dirty="0"/>
              <a:t> de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actos</a:t>
            </a:r>
            <a:r>
              <a:rPr sz="2000" dirty="0"/>
              <a:t> en el </a:t>
            </a:r>
            <a:r>
              <a:rPr sz="2000" dirty="0" err="1"/>
              <a:t>tiempo</a:t>
            </a:r>
            <a:r>
              <a:rPr sz="2000" dirty="0"/>
              <a:t> </a:t>
            </a:r>
            <a:r>
              <a:rPr sz="2000" dirty="0" err="1"/>
              <a:t>consolida</a:t>
            </a:r>
            <a:r>
              <a:rPr sz="2000" dirty="0"/>
              <a:t> </a:t>
            </a:r>
            <a:r>
              <a:rPr sz="2000" dirty="0" err="1"/>
              <a:t>regularidades</a:t>
            </a:r>
            <a:r>
              <a:rPr sz="2000" dirty="0"/>
              <a:t> en </a:t>
            </a:r>
            <a:r>
              <a:rPr sz="2000" dirty="0" err="1"/>
              <a:t>nuestra</a:t>
            </a:r>
            <a:r>
              <a:rPr sz="2000" dirty="0"/>
              <a:t> </a:t>
            </a:r>
            <a:r>
              <a:rPr sz="2000" dirty="0" err="1"/>
              <a:t>conducta</a:t>
            </a:r>
            <a:r>
              <a:rPr sz="20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27432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rPr sz="2000" dirty="0"/>
              <a:t>3. La </a:t>
            </a:r>
            <a:r>
              <a:rPr sz="2000" dirty="0" err="1"/>
              <a:t>Disposición</a:t>
            </a:r>
            <a:endParaRPr sz="2000" dirty="0"/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Hábitos </a:t>
            </a:r>
            <a:r>
              <a:rPr sz="2000" dirty="0" err="1"/>
              <a:t>enraizados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configuran</a:t>
            </a:r>
            <a:r>
              <a:rPr sz="2000" dirty="0"/>
              <a:t> un </a:t>
            </a:r>
            <a:r>
              <a:rPr sz="2000" dirty="0" err="1"/>
              <a:t>carácter</a:t>
            </a:r>
            <a:r>
              <a:rPr sz="2000" dirty="0"/>
              <a:t> ('</a:t>
            </a:r>
            <a:r>
              <a:rPr sz="2000" dirty="0" err="1"/>
              <a:t>segunda</a:t>
            </a:r>
            <a:r>
              <a:rPr sz="2000" dirty="0"/>
              <a:t> </a:t>
            </a:r>
            <a:r>
              <a:rPr sz="2000" dirty="0" err="1"/>
              <a:t>naturaleza</a:t>
            </a:r>
            <a:r>
              <a:rPr sz="2000" dirty="0"/>
              <a:t>') </a:t>
            </a:r>
            <a:r>
              <a:rPr sz="2000" dirty="0" err="1"/>
              <a:t>difícil</a:t>
            </a:r>
            <a:r>
              <a:rPr sz="2000" dirty="0"/>
              <a:t> de </a:t>
            </a:r>
            <a:r>
              <a:rPr sz="2000" dirty="0" err="1"/>
              <a:t>modificar</a:t>
            </a:r>
            <a:r>
              <a:rPr sz="2000"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7286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2A3B4C"/>
                </a:solidFill>
                <a:latin typeface="Georgia"/>
              </a:defRPr>
            </a:pPr>
            <a:r>
              <a:rPr sz="3000"/>
              <a:t>“Un acto justo aislado no hace que una persona sea justa, sino la reiteración constante de dichos actos.”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Virtud, Vicio y Desarrollo Humano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Los polos del florecimiento y la desestructuración humana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29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</a:t>
            </a:r>
            <a:r>
              <a:rPr sz="2000" dirty="0" err="1"/>
              <a:t>Virtud</a:t>
            </a:r>
            <a:r>
              <a:rPr sz="2000" dirty="0"/>
              <a:t> (</a:t>
            </a:r>
            <a:r>
              <a:rPr sz="2000" dirty="0" err="1"/>
              <a:t>Areté</a:t>
            </a:r>
            <a:r>
              <a:rPr sz="2000" dirty="0"/>
              <a:t> / Virtus)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Asociada</a:t>
            </a:r>
            <a:r>
              <a:rPr sz="2000" dirty="0"/>
              <a:t> a la </a:t>
            </a:r>
            <a:r>
              <a:rPr sz="2000" dirty="0" err="1"/>
              <a:t>excelencia</a:t>
            </a:r>
            <a:r>
              <a:rPr sz="2000" dirty="0"/>
              <a:t> o el </a:t>
            </a:r>
            <a:r>
              <a:rPr sz="2000" dirty="0" err="1"/>
              <a:t>óptimo</a:t>
            </a:r>
            <a:r>
              <a:rPr sz="2000" dirty="0"/>
              <a:t> </a:t>
            </a:r>
            <a:r>
              <a:rPr sz="2000" dirty="0" err="1"/>
              <a:t>despliegue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Hábitos buenos </a:t>
            </a:r>
            <a:r>
              <a:rPr sz="2000" dirty="0" err="1"/>
              <a:t>enraizados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potencian</a:t>
            </a:r>
            <a:r>
              <a:rPr sz="2000" dirty="0"/>
              <a:t> y </a:t>
            </a:r>
            <a:r>
              <a:rPr sz="2000" dirty="0" err="1"/>
              <a:t>facilitan</a:t>
            </a:r>
            <a:r>
              <a:rPr sz="2000" dirty="0"/>
              <a:t> las </a:t>
            </a:r>
            <a:r>
              <a:rPr sz="2000" dirty="0" err="1"/>
              <a:t>mejores</a:t>
            </a:r>
            <a:r>
              <a:rPr sz="2000" dirty="0"/>
              <a:t> </a:t>
            </a:r>
            <a:r>
              <a:rPr sz="2000" dirty="0" err="1"/>
              <a:t>acciones</a:t>
            </a:r>
            <a:r>
              <a:rPr sz="2000" dirty="0"/>
              <a:t> </a:t>
            </a:r>
            <a:r>
              <a:rPr sz="2000" dirty="0" err="1"/>
              <a:t>humanas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Representa</a:t>
            </a:r>
            <a:r>
              <a:rPr sz="2000" dirty="0"/>
              <a:t> el </a:t>
            </a:r>
            <a:r>
              <a:rPr sz="2000" dirty="0" err="1"/>
              <a:t>desarrollo</a:t>
            </a:r>
            <a:r>
              <a:rPr sz="2000" dirty="0"/>
              <a:t> pleno del ser </a:t>
            </a:r>
            <a:r>
              <a:rPr sz="2000" dirty="0" err="1"/>
              <a:t>humano</a:t>
            </a:r>
            <a:r>
              <a:rPr sz="2000" dirty="0"/>
              <a:t>, </a:t>
            </a:r>
            <a:r>
              <a:rPr sz="2000" dirty="0" err="1"/>
              <a:t>sintonizado</a:t>
            </a:r>
            <a:r>
              <a:rPr sz="2000" dirty="0"/>
              <a:t> con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potencial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29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85A32"/>
                </a:solidFill>
                <a:latin typeface="Georgia"/>
              </a:defRPr>
            </a:pPr>
            <a:r>
              <a:rPr sz="2000" dirty="0"/>
              <a:t>El </a:t>
            </a:r>
            <a:r>
              <a:rPr sz="2000" dirty="0" err="1"/>
              <a:t>Vicio</a:t>
            </a:r>
            <a:r>
              <a:rPr sz="2000" dirty="0"/>
              <a:t> (</a:t>
            </a:r>
            <a:r>
              <a:rPr sz="2000" dirty="0" err="1"/>
              <a:t>Cacofonía</a:t>
            </a:r>
            <a:r>
              <a:rPr sz="2000"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Asociado</a:t>
            </a:r>
            <a:r>
              <a:rPr sz="2000" dirty="0"/>
              <a:t> a la </a:t>
            </a:r>
            <a:r>
              <a:rPr sz="2000" dirty="0" err="1"/>
              <a:t>disonancia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 o </a:t>
            </a:r>
            <a:r>
              <a:rPr sz="2000" dirty="0" err="1"/>
              <a:t>cacofonía</a:t>
            </a:r>
            <a:r>
              <a:rPr sz="2000" dirty="0"/>
              <a:t> vital.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Hábitos </a:t>
            </a:r>
            <a:r>
              <a:rPr sz="2000" dirty="0" err="1"/>
              <a:t>nocivos</a:t>
            </a:r>
            <a:r>
              <a:rPr sz="2000" dirty="0"/>
              <a:t> o </a:t>
            </a:r>
            <a:r>
              <a:rPr sz="2000" dirty="0" err="1"/>
              <a:t>destructivos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encadenan</a:t>
            </a:r>
            <a:r>
              <a:rPr sz="2000" dirty="0"/>
              <a:t> la </a:t>
            </a:r>
            <a:r>
              <a:rPr sz="2000" dirty="0" err="1"/>
              <a:t>libertad</a:t>
            </a:r>
            <a:r>
              <a:rPr sz="2000" dirty="0"/>
              <a:t> y </a:t>
            </a:r>
            <a:r>
              <a:rPr sz="2000" dirty="0" err="1"/>
              <a:t>opacan</a:t>
            </a:r>
            <a:r>
              <a:rPr sz="2000" dirty="0"/>
              <a:t> el </a:t>
            </a:r>
            <a:r>
              <a:rPr sz="2000" dirty="0" err="1"/>
              <a:t>juicio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Deshumaniza</a:t>
            </a:r>
            <a:r>
              <a:rPr sz="2000" dirty="0"/>
              <a:t> a la persona, </a:t>
            </a:r>
            <a:r>
              <a:rPr sz="2000" dirty="0" err="1"/>
              <a:t>limitando</a:t>
            </a:r>
            <a:r>
              <a:rPr sz="2000" dirty="0"/>
              <a:t> </a:t>
            </a:r>
            <a:r>
              <a:rPr sz="2000" dirty="0" err="1"/>
              <a:t>severamente</a:t>
            </a:r>
            <a:r>
              <a:rPr sz="2000" dirty="0"/>
              <a:t>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potencial</a:t>
            </a:r>
            <a:r>
              <a:rPr sz="2000" dirty="0"/>
              <a:t> </a:t>
            </a:r>
            <a:r>
              <a:rPr sz="2000" dirty="0" err="1"/>
              <a:t>terapéutico</a:t>
            </a:r>
            <a:r>
              <a:rPr sz="2000" dirty="0"/>
              <a:t>, </a:t>
            </a:r>
            <a:r>
              <a:rPr sz="2000" dirty="0" err="1"/>
              <a:t>relacional</a:t>
            </a:r>
            <a:r>
              <a:rPr sz="2000" dirty="0"/>
              <a:t> y </a:t>
            </a:r>
            <a:r>
              <a:rPr sz="2000" dirty="0" err="1"/>
              <a:t>existencial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El Esfuerzo de la Vida Ética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El imperativo existencial de la autoconstrucción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2A3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75488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C85A32"/>
                </a:solidFill>
                <a:latin typeface="Georgia"/>
              </a:defRPr>
            </a:pPr>
            <a:r>
              <a:rPr sz="3000" dirty="0"/>
              <a:t>“</a:t>
            </a:r>
            <a:r>
              <a:rPr sz="3000" dirty="0" err="1"/>
              <a:t>Sé</a:t>
            </a:r>
            <a:r>
              <a:rPr sz="3000" dirty="0"/>
              <a:t> lo </a:t>
            </a:r>
            <a:r>
              <a:rPr sz="3000" dirty="0" err="1"/>
              <a:t>que</a:t>
            </a:r>
            <a:r>
              <a:rPr sz="3000" dirty="0"/>
              <a:t> </a:t>
            </a:r>
            <a:r>
              <a:rPr sz="3000" dirty="0" err="1"/>
              <a:t>eres</a:t>
            </a:r>
            <a:r>
              <a:rPr sz="3000" dirty="0"/>
              <a:t>”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rPr sz="2000" dirty="0"/>
              <a:t>El ser </a:t>
            </a:r>
            <a:r>
              <a:rPr sz="2000" dirty="0" err="1"/>
              <a:t>humano</a:t>
            </a:r>
            <a:r>
              <a:rPr sz="2000" dirty="0"/>
              <a:t> se </a:t>
            </a:r>
            <a:r>
              <a:rPr sz="2000" dirty="0" err="1"/>
              <a:t>debe</a:t>
            </a:r>
            <a:r>
              <a:rPr sz="2000" dirty="0"/>
              <a:t> a </a:t>
            </a:r>
            <a:r>
              <a:rPr sz="2000" dirty="0" err="1"/>
              <a:t>sí</a:t>
            </a:r>
            <a:r>
              <a:rPr sz="2000" dirty="0"/>
              <a:t> </a:t>
            </a:r>
            <a:r>
              <a:rPr sz="2000" dirty="0" err="1"/>
              <a:t>mismo</a:t>
            </a:r>
            <a:r>
              <a:rPr sz="2000" dirty="0"/>
              <a:t>. Lograr la </a:t>
            </a:r>
            <a:r>
              <a:rPr sz="2000" dirty="0" err="1"/>
              <a:t>plenitud</a:t>
            </a:r>
            <a:r>
              <a:rPr sz="2000" dirty="0"/>
              <a:t> </a:t>
            </a:r>
            <a:r>
              <a:rPr sz="2000" dirty="0" err="1"/>
              <a:t>propia</a:t>
            </a:r>
            <a:r>
              <a:rPr sz="2000" dirty="0"/>
              <a:t> no es un </a:t>
            </a:r>
            <a:r>
              <a:rPr sz="2000" dirty="0" err="1"/>
              <a:t>proceso</a:t>
            </a:r>
            <a:r>
              <a:rPr sz="2000" dirty="0"/>
              <a:t> </a:t>
            </a:r>
            <a:r>
              <a:rPr sz="2000" dirty="0" err="1"/>
              <a:t>inercial</a:t>
            </a:r>
            <a:r>
              <a:rPr sz="2000" dirty="0"/>
              <a:t> </a:t>
            </a:r>
            <a:r>
              <a:rPr sz="2000" dirty="0" err="1"/>
              <a:t>ni</a:t>
            </a:r>
            <a:r>
              <a:rPr sz="2000" dirty="0"/>
              <a:t> </a:t>
            </a:r>
            <a:r>
              <a:rPr sz="2000" dirty="0" err="1"/>
              <a:t>garantizado</a:t>
            </a:r>
            <a:r>
              <a:rPr sz="2000" dirty="0"/>
              <a:t>: </a:t>
            </a:r>
            <a:r>
              <a:rPr sz="2000" dirty="0" err="1"/>
              <a:t>requiere</a:t>
            </a:r>
            <a:r>
              <a:rPr sz="2000" dirty="0"/>
              <a:t> </a:t>
            </a:r>
            <a:r>
              <a:rPr sz="2000" dirty="0" err="1"/>
              <a:t>energía</a:t>
            </a:r>
            <a:r>
              <a:rPr sz="2000" dirty="0"/>
              <a:t>, </a:t>
            </a:r>
            <a:r>
              <a:rPr sz="2000" dirty="0" err="1"/>
              <a:t>perseverancia</a:t>
            </a:r>
            <a:r>
              <a:rPr sz="2000" dirty="0"/>
              <a:t> y </a:t>
            </a:r>
            <a:r>
              <a:rPr sz="2000" dirty="0" err="1"/>
              <a:t>esfuerzo</a:t>
            </a:r>
            <a:r>
              <a:rPr sz="2000" dirty="0"/>
              <a:t> </a:t>
            </a:r>
            <a:r>
              <a:rPr sz="2000" dirty="0" err="1"/>
              <a:t>constantes</a:t>
            </a:r>
            <a:r>
              <a:rPr sz="20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645920"/>
            <a:ext cx="4663440" cy="383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A3B4C"/>
                </a:solidFill>
                <a:latin typeface="Arial"/>
              </a:defRPr>
            </a:pPr>
            <a:r>
              <a:rPr sz="2000" dirty="0" err="1"/>
              <a:t>Obstáculos</a:t>
            </a:r>
            <a:r>
              <a:rPr sz="2000" dirty="0"/>
              <a:t> y </a:t>
            </a:r>
            <a:r>
              <a:rPr sz="2000" dirty="0" err="1"/>
              <a:t>Exigencias</a:t>
            </a:r>
            <a:r>
              <a:rPr sz="2000" dirty="0"/>
              <a:t>:</a:t>
            </a:r>
          </a:p>
          <a:p>
            <a:pPr>
              <a:defRPr sz="16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La </a:t>
            </a:r>
            <a:r>
              <a:rPr sz="2000" dirty="0" err="1"/>
              <a:t>Comodidad</a:t>
            </a:r>
            <a:r>
              <a:rPr sz="2000" dirty="0"/>
              <a:t> y la </a:t>
            </a:r>
            <a:r>
              <a:rPr sz="2000" dirty="0" err="1"/>
              <a:t>Pereza</a:t>
            </a:r>
            <a:r>
              <a:rPr sz="2000" dirty="0"/>
              <a:t>:</a:t>
            </a:r>
          </a:p>
          <a:p>
            <a:pPr>
              <a:spcAft>
                <a:spcPts val="14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Actúan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fuerzas</a:t>
            </a:r>
            <a:r>
              <a:rPr sz="2000" dirty="0"/>
              <a:t> de </a:t>
            </a:r>
            <a:r>
              <a:rPr sz="2000" dirty="0" err="1"/>
              <a:t>inercia</a:t>
            </a:r>
            <a:r>
              <a:rPr sz="2000" dirty="0"/>
              <a:t> </a:t>
            </a:r>
            <a:r>
              <a:rPr sz="2000" dirty="0" err="1"/>
              <a:t>psíquica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anclan</a:t>
            </a:r>
            <a:r>
              <a:rPr sz="2000" dirty="0"/>
              <a:t> al </a:t>
            </a:r>
            <a:r>
              <a:rPr sz="2000" dirty="0" err="1"/>
              <a:t>sujeto</a:t>
            </a:r>
            <a:r>
              <a:rPr sz="2000" dirty="0"/>
              <a:t> en la repetition </a:t>
            </a:r>
            <a:r>
              <a:rPr sz="2000" dirty="0" err="1"/>
              <a:t>pasiva</a:t>
            </a:r>
            <a:r>
              <a:rPr sz="2000" dirty="0"/>
              <a:t>, </a:t>
            </a:r>
            <a:r>
              <a:rPr sz="2000" dirty="0" err="1"/>
              <a:t>bloqueando</a:t>
            </a:r>
            <a:r>
              <a:rPr sz="2000" dirty="0"/>
              <a:t> el </a:t>
            </a:r>
            <a:r>
              <a:rPr sz="2000" dirty="0" err="1"/>
              <a:t>desarrollo</a:t>
            </a:r>
            <a:r>
              <a:rPr sz="2000" dirty="0"/>
              <a:t> </a:t>
            </a:r>
            <a:r>
              <a:rPr sz="2000" dirty="0" err="1"/>
              <a:t>ético</a:t>
            </a:r>
            <a:r>
              <a:rPr sz="2000" dirty="0"/>
              <a:t> personal.</a:t>
            </a:r>
          </a:p>
          <a:p>
            <a:pPr>
              <a:defRPr sz="16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Coraje</a:t>
            </a:r>
            <a:r>
              <a:rPr sz="2000" dirty="0"/>
              <a:t> y </a:t>
            </a:r>
            <a:r>
              <a:rPr sz="2000" dirty="0" err="1"/>
              <a:t>Valentía</a:t>
            </a:r>
            <a:r>
              <a:rPr sz="2000" dirty="0"/>
              <a:t>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madurez</a:t>
            </a:r>
            <a:r>
              <a:rPr sz="2000" dirty="0"/>
              <a:t> moral e individual </a:t>
            </a:r>
            <a:r>
              <a:rPr sz="2000" dirty="0" err="1"/>
              <a:t>exige</a:t>
            </a:r>
            <a:r>
              <a:rPr sz="2000" dirty="0"/>
              <a:t> la </a:t>
            </a:r>
            <a:r>
              <a:rPr sz="2000" dirty="0" err="1"/>
              <a:t>disposición</a:t>
            </a:r>
            <a:r>
              <a:rPr sz="2000" dirty="0"/>
              <a:t> </a:t>
            </a:r>
            <a:r>
              <a:rPr sz="2000" dirty="0" err="1"/>
              <a:t>activa</a:t>
            </a:r>
            <a:r>
              <a:rPr sz="2000" dirty="0"/>
              <a:t> a </a:t>
            </a:r>
            <a:r>
              <a:rPr sz="2000" dirty="0" err="1"/>
              <a:t>asumir</a:t>
            </a:r>
            <a:r>
              <a:rPr sz="2000" dirty="0"/>
              <a:t> </a:t>
            </a:r>
            <a:r>
              <a:rPr sz="2000" dirty="0" err="1"/>
              <a:t>riesgos</a:t>
            </a:r>
            <a:r>
              <a:rPr sz="2000" dirty="0"/>
              <a:t> </a:t>
            </a:r>
            <a:r>
              <a:rPr sz="2000" dirty="0" err="1"/>
              <a:t>existenciales</a:t>
            </a:r>
            <a:r>
              <a:rPr sz="2000" dirty="0"/>
              <a:t> para </a:t>
            </a:r>
            <a:r>
              <a:rPr sz="2000" dirty="0" err="1"/>
              <a:t>actuar</a:t>
            </a:r>
            <a:r>
              <a:rPr sz="2000" dirty="0"/>
              <a:t> con </a:t>
            </a:r>
            <a:r>
              <a:rPr sz="2000" dirty="0" err="1"/>
              <a:t>coherencia</a:t>
            </a:r>
            <a:r>
              <a:rPr sz="2000" dirty="0"/>
              <a:t> </a:t>
            </a:r>
            <a:r>
              <a:rPr sz="2000" dirty="0" err="1"/>
              <a:t>clínica</a:t>
            </a:r>
            <a:r>
              <a:rPr sz="2000" dirty="0"/>
              <a:t> y personal.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Aproximación Lingüística a la Moral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La moral como costumbre y energía vital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</a:t>
            </a:r>
            <a:r>
              <a:rPr sz="2000" dirty="0" err="1"/>
              <a:t>Costumbre</a:t>
            </a:r>
            <a:r>
              <a:rPr sz="2000" dirty="0"/>
              <a:t> (Mos, Moris)</a:t>
            </a:r>
          </a:p>
          <a:p>
            <a:pPr>
              <a:spcAft>
                <a:spcPts val="14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Proviene</a:t>
            </a:r>
            <a:r>
              <a:rPr sz="2000" dirty="0"/>
              <a:t> del </a:t>
            </a:r>
            <a:r>
              <a:rPr sz="2000" dirty="0" err="1"/>
              <a:t>latín</a:t>
            </a:r>
            <a:r>
              <a:rPr sz="2000" dirty="0"/>
              <a:t> y se traduce </a:t>
            </a:r>
            <a:r>
              <a:rPr sz="2000" dirty="0" err="1"/>
              <a:t>propiamente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costumbre</a:t>
            </a:r>
            <a:r>
              <a:rPr sz="2000" dirty="0"/>
              <a:t> o </a:t>
            </a:r>
            <a:r>
              <a:rPr sz="2000" dirty="0" err="1"/>
              <a:t>práctica</a:t>
            </a:r>
            <a:r>
              <a:rPr sz="2000" dirty="0"/>
              <a:t> </a:t>
            </a:r>
            <a:r>
              <a:rPr sz="2000" dirty="0" err="1"/>
              <a:t>establecida</a:t>
            </a:r>
            <a:r>
              <a:rPr sz="2000" dirty="0"/>
              <a:t>.</a:t>
            </a:r>
          </a:p>
          <a:p>
            <a:pPr>
              <a:defRPr sz="1500" b="1">
                <a:solidFill>
                  <a:srgbClr val="C85A32"/>
                </a:solidFill>
                <a:latin typeface="Arial"/>
              </a:defRPr>
            </a:pPr>
            <a:r>
              <a:rPr sz="2000" dirty="0" err="1"/>
              <a:t>Diferencia</a:t>
            </a:r>
            <a:r>
              <a:rPr sz="2000" dirty="0"/>
              <a:t> Crucial: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Esta </a:t>
            </a:r>
            <a:r>
              <a:rPr sz="2000" dirty="0" err="1"/>
              <a:t>traducción</a:t>
            </a:r>
            <a:r>
              <a:rPr sz="2000" dirty="0"/>
              <a:t> </a:t>
            </a:r>
            <a:r>
              <a:rPr sz="2000" dirty="0" err="1"/>
              <a:t>latina</a:t>
            </a:r>
            <a:r>
              <a:rPr sz="2000" dirty="0"/>
              <a:t> </a:t>
            </a:r>
            <a:r>
              <a:rPr sz="2000" dirty="0" err="1"/>
              <a:t>omitió</a:t>
            </a:r>
            <a:r>
              <a:rPr sz="2000" dirty="0"/>
              <a:t> o </a:t>
            </a:r>
            <a:r>
              <a:rPr sz="2000" dirty="0" err="1"/>
              <a:t>deslavó</a:t>
            </a:r>
            <a:r>
              <a:rPr sz="2000" dirty="0"/>
              <a:t> la </a:t>
            </a:r>
            <a:r>
              <a:rPr sz="2000" dirty="0" err="1"/>
              <a:t>noción</a:t>
            </a:r>
            <a:r>
              <a:rPr sz="2000" dirty="0"/>
              <a:t> </a:t>
            </a:r>
            <a:r>
              <a:rPr sz="2000" dirty="0" err="1"/>
              <a:t>rica</a:t>
            </a:r>
            <a:r>
              <a:rPr sz="2000" dirty="0"/>
              <a:t> de '</a:t>
            </a:r>
            <a:r>
              <a:rPr sz="2000" dirty="0" err="1"/>
              <a:t>carácter</a:t>
            </a:r>
            <a:r>
              <a:rPr sz="2000" dirty="0"/>
              <a:t>' y </a:t>
            </a:r>
            <a:r>
              <a:rPr sz="2000" dirty="0" err="1"/>
              <a:t>habitabilidad</a:t>
            </a:r>
            <a:r>
              <a:rPr sz="2000" dirty="0"/>
              <a:t> interior </a:t>
            </a:r>
            <a:r>
              <a:rPr sz="2000" dirty="0" err="1"/>
              <a:t>inherente</a:t>
            </a:r>
            <a:r>
              <a:rPr sz="2000" dirty="0"/>
              <a:t> al </a:t>
            </a:r>
            <a:r>
              <a:rPr sz="2000" dirty="0" err="1"/>
              <a:t>êthos</a:t>
            </a:r>
            <a:r>
              <a:rPr sz="2000" dirty="0"/>
              <a:t> </a:t>
            </a:r>
            <a:r>
              <a:rPr sz="2000" dirty="0" err="1"/>
              <a:t>griego</a:t>
            </a:r>
            <a:r>
              <a:rPr sz="2000" dirty="0"/>
              <a:t>, </a:t>
            </a:r>
            <a:r>
              <a:rPr sz="2000" dirty="0" err="1"/>
              <a:t>reduciendo</a:t>
            </a:r>
            <a:r>
              <a:rPr sz="2000" dirty="0"/>
              <a:t> lo moral </a:t>
            </a:r>
            <a:r>
              <a:rPr sz="2000" dirty="0" err="1"/>
              <a:t>muchas</a:t>
            </a:r>
            <a:r>
              <a:rPr sz="2000" dirty="0"/>
              <a:t> </a:t>
            </a:r>
            <a:r>
              <a:rPr sz="2000" dirty="0" err="1"/>
              <a:t>veces</a:t>
            </a:r>
            <a:r>
              <a:rPr sz="2000" dirty="0"/>
              <a:t> al </a:t>
            </a:r>
            <a:r>
              <a:rPr sz="2000" dirty="0" err="1"/>
              <a:t>mero</a:t>
            </a:r>
            <a:r>
              <a:rPr sz="2000" dirty="0"/>
              <a:t> </a:t>
            </a:r>
            <a:r>
              <a:rPr sz="2000" dirty="0" err="1"/>
              <a:t>seguimiento</a:t>
            </a:r>
            <a:r>
              <a:rPr sz="2000" dirty="0"/>
              <a:t> social de </a:t>
            </a:r>
            <a:r>
              <a:rPr sz="2000" dirty="0" err="1"/>
              <a:t>reglas</a:t>
            </a:r>
            <a:r>
              <a:rPr sz="2000" dirty="0"/>
              <a:t> </a:t>
            </a:r>
            <a:r>
              <a:rPr sz="2000" dirty="0" err="1"/>
              <a:t>externas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96824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85A32"/>
                </a:solidFill>
                <a:latin typeface="Georgia"/>
              </a:defRPr>
            </a:pPr>
            <a:r>
              <a:rPr sz="2000" dirty="0"/>
              <a:t>La Moral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Fuerza</a:t>
            </a:r>
            <a:r>
              <a:rPr sz="2000" dirty="0"/>
              <a:t> Vital</a:t>
            </a:r>
          </a:p>
          <a:p>
            <a:pPr>
              <a:spcAft>
                <a:spcPts val="14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En el </a:t>
            </a:r>
            <a:r>
              <a:rPr sz="2000" dirty="0" err="1"/>
              <a:t>uso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 </a:t>
            </a:r>
            <a:r>
              <a:rPr sz="2000" dirty="0" err="1"/>
              <a:t>cotidiano</a:t>
            </a:r>
            <a:r>
              <a:rPr sz="2000" dirty="0"/>
              <a:t>, </a:t>
            </a:r>
            <a:r>
              <a:rPr sz="2000" dirty="0" err="1"/>
              <a:t>asociamos</a:t>
            </a:r>
            <a:r>
              <a:rPr sz="2000" dirty="0"/>
              <a:t> moral a un </a:t>
            </a:r>
            <a:r>
              <a:rPr sz="2000" dirty="0" err="1"/>
              <a:t>estado</a:t>
            </a:r>
            <a:r>
              <a:rPr sz="2000" dirty="0"/>
              <a:t> </a:t>
            </a:r>
            <a:r>
              <a:rPr sz="2000" dirty="0" err="1"/>
              <a:t>subjetivo</a:t>
            </a:r>
            <a:r>
              <a:rPr sz="2000" dirty="0"/>
              <a:t> de </a:t>
            </a:r>
            <a:r>
              <a:rPr sz="2000" dirty="0" err="1"/>
              <a:t>ánimo</a:t>
            </a:r>
            <a:r>
              <a:rPr sz="2000" dirty="0"/>
              <a:t> y </a:t>
            </a:r>
            <a:r>
              <a:rPr sz="2000" dirty="0" err="1"/>
              <a:t>sentido</a:t>
            </a:r>
            <a:r>
              <a:rPr sz="2000" dirty="0"/>
              <a:t>:</a:t>
            </a:r>
          </a:p>
          <a:p>
            <a:pPr>
              <a:defRPr sz="1400" b="1">
                <a:solidFill>
                  <a:srgbClr val="2A3B4C"/>
                </a:solidFill>
                <a:latin typeface="Arial"/>
              </a:defRPr>
            </a:pPr>
            <a:r>
              <a:rPr sz="2000" dirty="0"/>
              <a:t>• Estar alto de moral: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Tener un principio </a:t>
            </a:r>
            <a:r>
              <a:rPr sz="2000" dirty="0" err="1"/>
              <a:t>activo</a:t>
            </a:r>
            <a:r>
              <a:rPr sz="2000" dirty="0"/>
              <a:t> de </a:t>
            </a:r>
            <a:r>
              <a:rPr sz="2000" dirty="0" err="1"/>
              <a:t>animación</a:t>
            </a:r>
            <a:r>
              <a:rPr sz="2000" dirty="0"/>
              <a:t>, </a:t>
            </a:r>
            <a:r>
              <a:rPr sz="2000" dirty="0" err="1"/>
              <a:t>energía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 y un </a:t>
            </a:r>
            <a:r>
              <a:rPr sz="2000" dirty="0" err="1"/>
              <a:t>esquema</a:t>
            </a:r>
            <a:r>
              <a:rPr sz="2000" dirty="0"/>
              <a:t> </a:t>
            </a:r>
            <a:r>
              <a:rPr sz="2000" dirty="0" err="1"/>
              <a:t>nítido</a:t>
            </a:r>
            <a:r>
              <a:rPr sz="2000" dirty="0"/>
              <a:t> de </a:t>
            </a:r>
            <a:r>
              <a:rPr sz="2000" dirty="0" err="1"/>
              <a:t>sentido</a:t>
            </a:r>
            <a:r>
              <a:rPr sz="2000" dirty="0"/>
              <a:t> vital.</a:t>
            </a:r>
          </a:p>
          <a:p>
            <a:pPr>
              <a:defRPr sz="1400" b="1">
                <a:solidFill>
                  <a:srgbClr val="2A3B4C"/>
                </a:solidFill>
                <a:latin typeface="Arial"/>
              </a:defRPr>
            </a:pPr>
            <a:r>
              <a:rPr sz="2000" dirty="0"/>
              <a:t>• Estar bajo de moral: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Sentimiento</a:t>
            </a:r>
            <a:r>
              <a:rPr sz="2000" dirty="0"/>
              <a:t> de </a:t>
            </a:r>
            <a:r>
              <a:rPr sz="2000" dirty="0" err="1"/>
              <a:t>desánimo</a:t>
            </a:r>
            <a:r>
              <a:rPr sz="2000" dirty="0"/>
              <a:t>, </a:t>
            </a:r>
            <a:r>
              <a:rPr sz="2000" dirty="0" err="1"/>
              <a:t>parálisis</a:t>
            </a:r>
            <a:r>
              <a:rPr sz="2000" dirty="0"/>
              <a:t>, </a:t>
            </a:r>
            <a:r>
              <a:rPr sz="2000" dirty="0" err="1"/>
              <a:t>falta</a:t>
            </a:r>
            <a:r>
              <a:rPr sz="2000" dirty="0"/>
              <a:t> de </a:t>
            </a:r>
            <a:r>
              <a:rPr sz="2000" dirty="0" err="1"/>
              <a:t>energía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 y </a:t>
            </a:r>
            <a:r>
              <a:rPr sz="2000" dirty="0" err="1"/>
              <a:t>ausencia</a:t>
            </a:r>
            <a:r>
              <a:rPr sz="2000" dirty="0"/>
              <a:t> o </a:t>
            </a:r>
            <a:r>
              <a:rPr sz="2000" dirty="0" err="1"/>
              <a:t>resquebrajamiento</a:t>
            </a:r>
            <a:r>
              <a:rPr sz="2000" dirty="0"/>
              <a:t> de </a:t>
            </a:r>
            <a:r>
              <a:rPr sz="2000" dirty="0" err="1"/>
              <a:t>sentido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La Vida Humana como Tarea Inconclusa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La indeterminación radical de la existencia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Martin Heidegger</a:t>
            </a:r>
          </a:p>
          <a:p>
            <a:pPr>
              <a:spcAft>
                <a:spcPts val="800"/>
              </a:spcAft>
              <a:defRPr sz="16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vida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lang="es-CL" sz="2000" dirty="0"/>
              <a:t>p</a:t>
            </a:r>
            <a:r>
              <a:rPr sz="2000" dirty="0" err="1"/>
              <a:t>reocupación</a:t>
            </a:r>
            <a:r>
              <a:rPr sz="2000" dirty="0"/>
              <a:t>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existencia</a:t>
            </a:r>
            <a:r>
              <a:rPr sz="2000" dirty="0"/>
              <a:t> humana es </a:t>
            </a:r>
            <a:r>
              <a:rPr sz="2000" dirty="0" err="1"/>
              <a:t>preocupación</a:t>
            </a:r>
            <a:r>
              <a:rPr sz="2000" dirty="0"/>
              <a:t> (Sorge) </a:t>
            </a:r>
            <a:r>
              <a:rPr sz="2000" dirty="0" err="1"/>
              <a:t>precisamente</a:t>
            </a:r>
            <a:r>
              <a:rPr sz="2000" dirty="0"/>
              <a:t> </a:t>
            </a:r>
            <a:r>
              <a:rPr sz="2000" dirty="0" err="1"/>
              <a:t>porque</a:t>
            </a:r>
            <a:r>
              <a:rPr sz="2000" dirty="0"/>
              <a:t> no </a:t>
            </a:r>
            <a:r>
              <a:rPr sz="2000" dirty="0" err="1"/>
              <a:t>está</a:t>
            </a:r>
            <a:r>
              <a:rPr sz="2000" dirty="0"/>
              <a:t> </a:t>
            </a:r>
            <a:r>
              <a:rPr sz="2000" dirty="0" err="1"/>
              <a:t>predeterminada</a:t>
            </a:r>
            <a:r>
              <a:rPr sz="2000" dirty="0"/>
              <a:t>. Vivir </a:t>
            </a:r>
            <a:r>
              <a:rPr sz="2000" dirty="0" err="1"/>
              <a:t>significa</a:t>
            </a:r>
            <a:r>
              <a:rPr sz="2000" dirty="0"/>
              <a:t> </a:t>
            </a:r>
            <a:r>
              <a:rPr sz="2000" dirty="0" err="1"/>
              <a:t>enfrentarse</a:t>
            </a:r>
            <a:r>
              <a:rPr sz="2000" dirty="0"/>
              <a:t> a algo </a:t>
            </a:r>
            <a:r>
              <a:rPr sz="2000" dirty="0" err="1"/>
              <a:t>que</a:t>
            </a:r>
            <a:r>
              <a:rPr sz="2000" dirty="0"/>
              <a:t> se </a:t>
            </a:r>
            <a:r>
              <a:rPr sz="2000" dirty="0" err="1"/>
              <a:t>encuentra</a:t>
            </a:r>
            <a:r>
              <a:rPr sz="2000" dirty="0"/>
              <a:t> </a:t>
            </a:r>
            <a:r>
              <a:rPr sz="2000" dirty="0" err="1"/>
              <a:t>permanentemente</a:t>
            </a:r>
            <a:r>
              <a:rPr sz="2000" dirty="0"/>
              <a:t> </a:t>
            </a:r>
            <a:r>
              <a:rPr sz="2000" dirty="0" err="1"/>
              <a:t>inconcluso</a:t>
            </a:r>
            <a:r>
              <a:rPr sz="2000" dirty="0"/>
              <a:t>, </a:t>
            </a:r>
            <a:r>
              <a:rPr sz="2000" dirty="0" err="1"/>
              <a:t>pendiente</a:t>
            </a:r>
            <a:r>
              <a:rPr sz="2000" dirty="0"/>
              <a:t> de </a:t>
            </a:r>
            <a:r>
              <a:rPr sz="2000" dirty="0" err="1"/>
              <a:t>resolución</a:t>
            </a:r>
            <a:r>
              <a:rPr sz="2000" dirty="0"/>
              <a:t>, </a:t>
            </a:r>
            <a:r>
              <a:rPr sz="2000" dirty="0" err="1"/>
              <a:t>donde</a:t>
            </a:r>
            <a:r>
              <a:rPr sz="2000" dirty="0"/>
              <a:t> </a:t>
            </a:r>
            <a:r>
              <a:rPr sz="2000" dirty="0" err="1"/>
              <a:t>nosotros</a:t>
            </a:r>
            <a:r>
              <a:rPr sz="2000" dirty="0"/>
              <a:t> </a:t>
            </a:r>
            <a:r>
              <a:rPr sz="2000" dirty="0" err="1"/>
              <a:t>mismos</a:t>
            </a:r>
            <a:r>
              <a:rPr sz="2000" dirty="0"/>
              <a:t> </a:t>
            </a:r>
            <a:r>
              <a:rPr sz="2000" dirty="0" err="1"/>
              <a:t>somos</a:t>
            </a:r>
            <a:r>
              <a:rPr sz="2000" dirty="0"/>
              <a:t> la </a:t>
            </a:r>
            <a:r>
              <a:rPr sz="2000" dirty="0" err="1"/>
              <a:t>cuestión</a:t>
            </a:r>
            <a:r>
              <a:rPr sz="2000" dirty="0"/>
              <a:t> en juego.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José Ortega y Gasset</a:t>
            </a:r>
          </a:p>
          <a:p>
            <a:pPr>
              <a:spcAft>
                <a:spcPts val="800"/>
              </a:spcAft>
              <a:defRPr sz="16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vida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lang="es-CL" sz="2000" dirty="0"/>
              <a:t>q</a:t>
            </a:r>
            <a:r>
              <a:rPr sz="2000" dirty="0" err="1"/>
              <a:t>uehacer</a:t>
            </a:r>
            <a:r>
              <a:rPr sz="2000" dirty="0"/>
              <a:t>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Vivir no es </a:t>
            </a:r>
            <a:r>
              <a:rPr sz="2000" dirty="0" err="1"/>
              <a:t>transcurrir</a:t>
            </a:r>
            <a:r>
              <a:rPr sz="2000" dirty="0"/>
              <a:t> </a:t>
            </a:r>
            <a:r>
              <a:rPr sz="2000" dirty="0" err="1"/>
              <a:t>pasivamente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carriles</a:t>
            </a:r>
            <a:r>
              <a:rPr sz="2000" dirty="0"/>
              <a:t> </a:t>
            </a:r>
            <a:r>
              <a:rPr sz="2000" dirty="0" err="1"/>
              <a:t>ya</a:t>
            </a:r>
            <a:r>
              <a:rPr sz="2000" dirty="0"/>
              <a:t> </a:t>
            </a:r>
            <a:r>
              <a:rPr sz="2000" dirty="0" err="1"/>
              <a:t>trazados</a:t>
            </a:r>
            <a:r>
              <a:rPr sz="2000" dirty="0"/>
              <a:t>. La </a:t>
            </a:r>
            <a:r>
              <a:rPr sz="2000" dirty="0" err="1"/>
              <a:t>vida</a:t>
            </a:r>
            <a:r>
              <a:rPr sz="2000" dirty="0"/>
              <a:t> humana es un '</a:t>
            </a:r>
            <a:r>
              <a:rPr sz="2000" dirty="0" err="1"/>
              <a:t>quehacer</a:t>
            </a:r>
            <a:r>
              <a:rPr sz="2000" dirty="0"/>
              <a:t> </a:t>
            </a:r>
            <a:r>
              <a:rPr sz="2000" dirty="0" err="1"/>
              <a:t>constante</a:t>
            </a:r>
            <a:r>
              <a:rPr sz="2000" dirty="0"/>
              <a:t>': no </a:t>
            </a:r>
            <a:r>
              <a:rPr sz="2000" dirty="0" err="1"/>
              <a:t>nos</a:t>
            </a:r>
            <a:r>
              <a:rPr sz="2000" dirty="0"/>
              <a:t> es </a:t>
            </a:r>
            <a:r>
              <a:rPr sz="2000" dirty="0" err="1"/>
              <a:t>entregada</a:t>
            </a:r>
            <a:r>
              <a:rPr sz="2000" dirty="0"/>
              <a:t> de forma </a:t>
            </a:r>
            <a:r>
              <a:rPr sz="2000" dirty="0" err="1"/>
              <a:t>terminada</a:t>
            </a:r>
            <a:r>
              <a:rPr sz="2000" dirty="0"/>
              <a:t>, </a:t>
            </a:r>
            <a:r>
              <a:rPr sz="2000" dirty="0" err="1"/>
              <a:t>sino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se </a:t>
            </a:r>
            <a:r>
              <a:rPr sz="2000" dirty="0" err="1"/>
              <a:t>nos</a:t>
            </a:r>
            <a:r>
              <a:rPr sz="2000" dirty="0"/>
              <a:t> </a:t>
            </a:r>
            <a:r>
              <a:rPr sz="2000" dirty="0" err="1"/>
              <a:t>presenta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tarea</a:t>
            </a:r>
            <a:r>
              <a:rPr sz="2000" dirty="0"/>
              <a:t> radical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hacer</a:t>
            </a:r>
            <a:r>
              <a:rPr sz="2000" dirty="0"/>
              <a:t> en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instante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Libertad, Decisiones y Responsabilidad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El peso de esculpir nuestra opción fundamental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120640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Vivir es </a:t>
            </a:r>
            <a:r>
              <a:rPr lang="es-CL" sz="2000" dirty="0"/>
              <a:t>i</a:t>
            </a:r>
            <a:r>
              <a:rPr sz="2000" dirty="0" err="1"/>
              <a:t>nevitablemente</a:t>
            </a:r>
            <a:r>
              <a:rPr sz="2000" dirty="0"/>
              <a:t> </a:t>
            </a:r>
            <a:r>
              <a:rPr lang="es-CL" sz="2000" dirty="0"/>
              <a:t>e</a:t>
            </a:r>
            <a:r>
              <a:rPr sz="2000" dirty="0" err="1"/>
              <a:t>legir</a:t>
            </a:r>
            <a:endParaRPr sz="2000" dirty="0"/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solidFill>
                  <a:srgbClr val="C85A32"/>
                </a:solidFill>
              </a:rPr>
              <a:t>• Pura </a:t>
            </a:r>
            <a:r>
              <a:rPr sz="2000" b="1" dirty="0" err="1">
                <a:solidFill>
                  <a:srgbClr val="C85A32"/>
                </a:solidFill>
              </a:rPr>
              <a:t>posibilidad</a:t>
            </a:r>
            <a:r>
              <a:rPr sz="2000" b="1" dirty="0">
                <a:solidFill>
                  <a:srgbClr val="C85A32"/>
                </a:solidFill>
              </a:rPr>
              <a:t>:</a:t>
            </a:r>
            <a:r>
              <a:rPr sz="2000" dirty="0"/>
              <a:t> Al no </a:t>
            </a:r>
            <a:r>
              <a:rPr sz="2000" dirty="0" err="1"/>
              <a:t>tener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naturaleza</a:t>
            </a:r>
            <a:r>
              <a:rPr sz="2000" dirty="0"/>
              <a:t> </a:t>
            </a:r>
            <a:r>
              <a:rPr sz="2000" dirty="0" err="1"/>
              <a:t>fija</a:t>
            </a:r>
            <a:r>
              <a:rPr sz="2000" dirty="0"/>
              <a:t>, </a:t>
            </a:r>
            <a:r>
              <a:rPr sz="2000" dirty="0" err="1"/>
              <a:t>estamos</a:t>
            </a:r>
            <a:r>
              <a:rPr sz="2000" dirty="0"/>
              <a:t> </a:t>
            </a:r>
            <a:r>
              <a:rPr sz="2000" dirty="0" err="1"/>
              <a:t>forzados</a:t>
            </a:r>
            <a:r>
              <a:rPr sz="2000" dirty="0"/>
              <a:t> a </a:t>
            </a:r>
            <a:r>
              <a:rPr sz="2000" dirty="0" err="1"/>
              <a:t>elegir</a:t>
            </a:r>
            <a:r>
              <a:rPr sz="2000" dirty="0"/>
              <a:t> </a:t>
            </a:r>
            <a:r>
              <a:rPr sz="2000" dirty="0" err="1"/>
              <a:t>permanentemente</a:t>
            </a:r>
            <a:r>
              <a:rPr sz="2000" dirty="0"/>
              <a:t> y </a:t>
            </a:r>
            <a:r>
              <a:rPr sz="2000" dirty="0" err="1"/>
              <a:t>determinarnos</a:t>
            </a:r>
            <a:r>
              <a:rPr sz="2000" dirty="0"/>
              <a:t> </a:t>
            </a:r>
            <a:r>
              <a:rPr sz="2000" dirty="0" err="1"/>
              <a:t>cualitativamente</a:t>
            </a:r>
            <a:r>
              <a:rPr sz="2000" dirty="0"/>
              <a:t> en el </a:t>
            </a:r>
            <a:r>
              <a:rPr sz="2000" dirty="0" err="1"/>
              <a:t>hacer</a:t>
            </a:r>
            <a:r>
              <a:rPr sz="2000" dirty="0"/>
              <a:t> </a:t>
            </a:r>
            <a:r>
              <a:rPr sz="2000" dirty="0" err="1"/>
              <a:t>cotidiano</a:t>
            </a:r>
            <a:r>
              <a:rPr sz="2000" dirty="0"/>
              <a:t>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solidFill>
                  <a:srgbClr val="C85A32"/>
                </a:solidFill>
              </a:rPr>
              <a:t>• </a:t>
            </a:r>
            <a:r>
              <a:rPr sz="2000" b="1" dirty="0" err="1">
                <a:solidFill>
                  <a:srgbClr val="C85A32"/>
                </a:solidFill>
              </a:rPr>
              <a:t>Consecuencias</a:t>
            </a:r>
            <a:r>
              <a:rPr sz="2000" b="1" dirty="0">
                <a:solidFill>
                  <a:srgbClr val="C85A32"/>
                </a:solidFill>
              </a:rPr>
              <a:t> morales:</a:t>
            </a:r>
            <a:r>
              <a:rPr sz="2000" dirty="0"/>
              <a:t> Toda </a:t>
            </a:r>
            <a:r>
              <a:rPr sz="2000" dirty="0" err="1"/>
              <a:t>elección</a:t>
            </a:r>
            <a:r>
              <a:rPr sz="2000" dirty="0"/>
              <a:t> </a:t>
            </a:r>
            <a:r>
              <a:rPr sz="2000" dirty="0" err="1"/>
              <a:t>tiene</a:t>
            </a:r>
            <a:r>
              <a:rPr sz="2000" dirty="0"/>
              <a:t> </a:t>
            </a:r>
            <a:r>
              <a:rPr sz="2000" dirty="0" err="1"/>
              <a:t>implicaciones</a:t>
            </a:r>
            <a:r>
              <a:rPr sz="2000" dirty="0"/>
              <a:t> y </a:t>
            </a:r>
            <a:r>
              <a:rPr sz="2000" dirty="0" err="1"/>
              <a:t>alimenta</a:t>
            </a:r>
            <a:r>
              <a:rPr sz="2000" dirty="0"/>
              <a:t> </a:t>
            </a:r>
            <a:r>
              <a:rPr sz="2000" dirty="0" err="1"/>
              <a:t>nuestra</a:t>
            </a:r>
            <a:r>
              <a:rPr sz="2000" dirty="0"/>
              <a:t> </a:t>
            </a:r>
            <a:r>
              <a:rPr sz="2000" dirty="0" err="1"/>
              <a:t>disposición</a:t>
            </a:r>
            <a:r>
              <a:rPr sz="2000" dirty="0"/>
              <a:t> </a:t>
            </a:r>
            <a:r>
              <a:rPr sz="2000" dirty="0" err="1"/>
              <a:t>ética</a:t>
            </a:r>
            <a:r>
              <a:rPr sz="2000" dirty="0"/>
              <a:t> profunda.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solidFill>
                  <a:srgbClr val="C85A32"/>
                </a:solidFill>
              </a:rPr>
              <a:t>• Riesgo </a:t>
            </a:r>
            <a:r>
              <a:rPr sz="2000" b="1" dirty="0" err="1">
                <a:solidFill>
                  <a:srgbClr val="C85A32"/>
                </a:solidFill>
              </a:rPr>
              <a:t>clínico</a:t>
            </a:r>
            <a:r>
              <a:rPr sz="2000" b="1" dirty="0">
                <a:solidFill>
                  <a:srgbClr val="C85A32"/>
                </a:solidFill>
              </a:rPr>
              <a:t>/</a:t>
            </a:r>
            <a:r>
              <a:rPr sz="2000" b="1" dirty="0" err="1">
                <a:solidFill>
                  <a:srgbClr val="C85A32"/>
                </a:solidFill>
              </a:rPr>
              <a:t>existencial</a:t>
            </a:r>
            <a:r>
              <a:rPr sz="2000" b="1" dirty="0">
                <a:solidFill>
                  <a:srgbClr val="C85A32"/>
                </a:solidFill>
              </a:rPr>
              <a:t>:</a:t>
            </a:r>
            <a:r>
              <a:rPr sz="2000" dirty="0"/>
              <a:t> </a:t>
            </a:r>
            <a:r>
              <a:rPr sz="2000" dirty="0" err="1"/>
              <a:t>Decidir</a:t>
            </a:r>
            <a:r>
              <a:rPr sz="2000" dirty="0"/>
              <a:t> produce </a:t>
            </a:r>
            <a:r>
              <a:rPr sz="2000" dirty="0" err="1"/>
              <a:t>angustia</a:t>
            </a:r>
            <a:r>
              <a:rPr sz="2000" dirty="0"/>
              <a:t> </a:t>
            </a:r>
            <a:r>
              <a:rPr sz="2000" dirty="0" err="1"/>
              <a:t>porque</a:t>
            </a:r>
            <a:r>
              <a:rPr sz="2000" dirty="0"/>
              <a:t> </a:t>
            </a:r>
            <a:r>
              <a:rPr sz="2000" dirty="0" err="1"/>
              <a:t>optar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vía</a:t>
            </a:r>
            <a:r>
              <a:rPr sz="2000" dirty="0"/>
              <a:t> </a:t>
            </a:r>
            <a:r>
              <a:rPr sz="2000" dirty="0" err="1"/>
              <a:t>implica</a:t>
            </a:r>
            <a:r>
              <a:rPr sz="2000" dirty="0"/>
              <a:t> </a:t>
            </a:r>
            <a:r>
              <a:rPr sz="2000" dirty="0" err="1"/>
              <a:t>necesariamente</a:t>
            </a:r>
            <a:r>
              <a:rPr sz="2000" dirty="0"/>
              <a:t> la </a:t>
            </a:r>
            <a:r>
              <a:rPr sz="2000" dirty="0" err="1"/>
              <a:t>muerte</a:t>
            </a:r>
            <a:r>
              <a:rPr sz="2000" dirty="0"/>
              <a:t> o </a:t>
            </a:r>
            <a:r>
              <a:rPr sz="2000" dirty="0" err="1"/>
              <a:t>descarte</a:t>
            </a:r>
            <a:r>
              <a:rPr sz="2000" dirty="0"/>
              <a:t> de </a:t>
            </a:r>
            <a:r>
              <a:rPr sz="2000" dirty="0" err="1"/>
              <a:t>múltiples</a:t>
            </a:r>
            <a:r>
              <a:rPr sz="2000" dirty="0"/>
              <a:t> </a:t>
            </a:r>
            <a:r>
              <a:rPr sz="2000" dirty="0" err="1"/>
              <a:t>otras</a:t>
            </a:r>
            <a:r>
              <a:rPr sz="2000" dirty="0"/>
              <a:t> </a:t>
            </a:r>
            <a:r>
              <a:rPr sz="2000" dirty="0" err="1"/>
              <a:t>opciones</a:t>
            </a:r>
            <a:r>
              <a:rPr sz="2000"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C85A32"/>
                </a:solidFill>
                <a:latin typeface="Arial"/>
              </a:defRPr>
            </a:pPr>
            <a:r>
              <a:rPr sz="2000" dirty="0" err="1"/>
              <a:t>Advertencia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:</a:t>
            </a:r>
          </a:p>
          <a:p>
            <a:pPr>
              <a:spcAft>
                <a:spcPts val="1400"/>
              </a:spcAft>
              <a:defRPr sz="24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</a:t>
            </a:r>
            <a:r>
              <a:rPr lang="es-CL" sz="2000" dirty="0"/>
              <a:t>n</a:t>
            </a:r>
            <a:r>
              <a:rPr sz="2000" dirty="0" err="1"/>
              <a:t>ostalgia</a:t>
            </a:r>
            <a:r>
              <a:rPr sz="2000" dirty="0"/>
              <a:t> </a:t>
            </a:r>
            <a:r>
              <a:rPr lang="es-CL" sz="2000" dirty="0"/>
              <a:t>c</a:t>
            </a:r>
            <a:r>
              <a:rPr sz="2000" dirty="0" err="1"/>
              <a:t>orrosiva</a:t>
            </a:r>
            <a:endParaRPr sz="2000" dirty="0"/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Es el </a:t>
            </a:r>
            <a:r>
              <a:rPr sz="2000" dirty="0" err="1"/>
              <a:t>severo</a:t>
            </a:r>
            <a:r>
              <a:rPr sz="2000" dirty="0"/>
              <a:t> </a:t>
            </a:r>
            <a:r>
              <a:rPr sz="2000" dirty="0" err="1"/>
              <a:t>peligro</a:t>
            </a:r>
            <a:r>
              <a:rPr sz="2000" dirty="0"/>
              <a:t> de no </a:t>
            </a:r>
            <a:r>
              <a:rPr sz="2000" dirty="0" err="1"/>
              <a:t>asumir</a:t>
            </a:r>
            <a:r>
              <a:rPr sz="2000" dirty="0"/>
              <a:t> la </a:t>
            </a:r>
            <a:r>
              <a:rPr sz="2000" dirty="0" err="1"/>
              <a:t>responsabilidad</a:t>
            </a:r>
            <a:r>
              <a:rPr sz="2000" dirty="0"/>
              <a:t> </a:t>
            </a:r>
            <a:r>
              <a:rPr sz="2000" dirty="0" err="1"/>
              <a:t>ni</a:t>
            </a:r>
            <a:r>
              <a:rPr sz="2000" dirty="0"/>
              <a:t> el </a:t>
            </a:r>
            <a:r>
              <a:rPr sz="2000" dirty="0" err="1"/>
              <a:t>riesgo</a:t>
            </a:r>
            <a:r>
              <a:rPr sz="2000" dirty="0"/>
              <a:t> de la </a:t>
            </a:r>
            <a:r>
              <a:rPr sz="2000" dirty="0" err="1"/>
              <a:t>decisión</a:t>
            </a:r>
            <a:r>
              <a:rPr sz="2000" dirty="0"/>
              <a:t>, </a:t>
            </a:r>
            <a:r>
              <a:rPr sz="2000" dirty="0" err="1"/>
              <a:t>cayendo</a:t>
            </a:r>
            <a:r>
              <a:rPr sz="2000" dirty="0"/>
              <a:t> en la </a:t>
            </a:r>
            <a:r>
              <a:rPr sz="2000" dirty="0" err="1"/>
              <a:t>parálisis</a:t>
            </a:r>
            <a:r>
              <a:rPr sz="2000" dirty="0"/>
              <a:t> de la </a:t>
            </a:r>
            <a:r>
              <a:rPr sz="2000" dirty="0" err="1"/>
              <a:t>queja</a:t>
            </a:r>
            <a:r>
              <a:rPr sz="2000" dirty="0"/>
              <a:t> y el </a:t>
            </a:r>
            <a:r>
              <a:rPr sz="2000" dirty="0" err="1"/>
              <a:t>resentimiento</a:t>
            </a:r>
            <a:r>
              <a:rPr sz="2000" dirty="0"/>
              <a:t>.</a:t>
            </a:r>
            <a:br>
              <a:rPr sz="2000" dirty="0"/>
            </a:br>
            <a:br>
              <a:rPr sz="2000" dirty="0"/>
            </a:br>
            <a:r>
              <a:rPr sz="2000" dirty="0"/>
              <a:t>Es la </a:t>
            </a:r>
            <a:r>
              <a:rPr sz="2000" dirty="0" err="1"/>
              <a:t>amarga</a:t>
            </a:r>
            <a:r>
              <a:rPr sz="2000" dirty="0"/>
              <a:t> </a:t>
            </a:r>
            <a:r>
              <a:rPr sz="2000" dirty="0" err="1"/>
              <a:t>sensación</a:t>
            </a:r>
            <a:r>
              <a:rPr sz="2000" dirty="0"/>
              <a:t> </a:t>
            </a:r>
            <a:r>
              <a:rPr sz="2000" dirty="0" err="1"/>
              <a:t>retrospectiva</a:t>
            </a:r>
            <a:r>
              <a:rPr sz="2000" dirty="0"/>
              <a:t> de </a:t>
            </a:r>
            <a:r>
              <a:rPr sz="2000" dirty="0" err="1"/>
              <a:t>haber</a:t>
            </a:r>
            <a:r>
              <a:rPr sz="2000" dirty="0"/>
              <a:t> </a:t>
            </a:r>
            <a:r>
              <a:rPr sz="2000" dirty="0" err="1"/>
              <a:t>falsado</a:t>
            </a:r>
            <a:r>
              <a:rPr sz="2000" dirty="0"/>
              <a:t> la </a:t>
            </a:r>
            <a:r>
              <a:rPr sz="2000" dirty="0" err="1"/>
              <a:t>propia</a:t>
            </a:r>
            <a:r>
              <a:rPr sz="2000" dirty="0"/>
              <a:t> </a:t>
            </a:r>
            <a:r>
              <a:rPr sz="2000" dirty="0" err="1"/>
              <a:t>existencia</a:t>
            </a:r>
            <a:r>
              <a:rPr sz="2000" dirty="0"/>
              <a:t>, </a:t>
            </a:r>
            <a:r>
              <a:rPr sz="2000" dirty="0" err="1"/>
              <a:t>viviendo</a:t>
            </a:r>
            <a:r>
              <a:rPr sz="2000" dirty="0"/>
              <a:t> en el </a:t>
            </a:r>
            <a:r>
              <a:rPr sz="2000" dirty="0" err="1"/>
              <a:t>fantasma</a:t>
            </a:r>
            <a:r>
              <a:rPr sz="2000" dirty="0"/>
              <a:t> de lo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pudo</a:t>
            </a:r>
            <a:r>
              <a:rPr sz="2000" dirty="0"/>
              <a:t> </a:t>
            </a:r>
            <a:r>
              <a:rPr sz="2000" dirty="0" err="1"/>
              <a:t>haber</a:t>
            </a:r>
            <a:r>
              <a:rPr sz="2000" dirty="0"/>
              <a:t> </a:t>
            </a:r>
            <a:r>
              <a:rPr sz="2000" dirty="0" err="1"/>
              <a:t>sido</a:t>
            </a:r>
            <a:r>
              <a:rPr sz="2000" dirty="0"/>
              <a:t> y no </a:t>
            </a:r>
            <a:r>
              <a:rPr sz="2000" dirty="0" err="1"/>
              <a:t>fue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cobardía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La Sabiduría Moral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Aprender a discernir e implicarse en el mundo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53135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2400" b="1" i="1">
                <a:solidFill>
                  <a:srgbClr val="2A3B4C"/>
                </a:solidFill>
                <a:latin typeface="Georgia"/>
              </a:defRPr>
            </a:pPr>
            <a:r>
              <a:rPr dirty="0"/>
              <a:t>“La </a:t>
            </a:r>
            <a:r>
              <a:rPr dirty="0" err="1"/>
              <a:t>sabiduría</a:t>
            </a:r>
            <a:r>
              <a:rPr dirty="0"/>
              <a:t> moral </a:t>
            </a:r>
            <a:r>
              <a:rPr dirty="0" err="1"/>
              <a:t>consiste</a:t>
            </a:r>
            <a:r>
              <a:rPr dirty="0"/>
              <a:t> en </a:t>
            </a:r>
            <a:r>
              <a:rPr dirty="0" err="1"/>
              <a:t>aprender</a:t>
            </a:r>
            <a:r>
              <a:rPr dirty="0"/>
              <a:t> a </a:t>
            </a:r>
            <a:r>
              <a:rPr dirty="0" err="1"/>
              <a:t>diferenciar</a:t>
            </a:r>
            <a:r>
              <a:rPr dirty="0"/>
              <a:t> y </a:t>
            </a:r>
            <a:r>
              <a:rPr dirty="0" err="1"/>
              <a:t>optar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lo </a:t>
            </a:r>
            <a:r>
              <a:rPr dirty="0" err="1"/>
              <a:t>más</a:t>
            </a:r>
            <a:r>
              <a:rPr dirty="0"/>
              <a:t> bueno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cual</a:t>
            </a:r>
            <a:r>
              <a:rPr dirty="0"/>
              <a:t>: </a:t>
            </a:r>
            <a:r>
              <a:rPr dirty="0" err="1">
                <a:highlight>
                  <a:srgbClr val="FFFF00"/>
                </a:highlight>
              </a:rPr>
              <a:t>preferir</a:t>
            </a:r>
            <a:r>
              <a:rPr dirty="0">
                <a:highlight>
                  <a:srgbClr val="FFFF00"/>
                </a:highlight>
              </a:rPr>
              <a:t> lo </a:t>
            </a:r>
            <a:r>
              <a:rPr dirty="0" err="1">
                <a:highlight>
                  <a:srgbClr val="FFFF00"/>
                </a:highlight>
              </a:rPr>
              <a:t>preferible</a:t>
            </a:r>
            <a:r>
              <a:rPr dirty="0">
                <a:highlight>
                  <a:srgbClr val="FFFF00"/>
                </a:highlight>
              </a:rPr>
              <a:t>.”</a:t>
            </a:r>
          </a:p>
          <a:p>
            <a:pPr>
              <a:spcAft>
                <a:spcPts val="1400"/>
              </a:spcAft>
              <a:defRPr sz="1800" b="1">
                <a:solidFill>
                  <a:srgbClr val="C85A32"/>
                </a:solidFill>
                <a:latin typeface="Arial"/>
              </a:defRPr>
            </a:pPr>
            <a:r>
              <a:rPr sz="2000" dirty="0" err="1"/>
              <a:t>Principios</a:t>
            </a:r>
            <a:r>
              <a:rPr sz="2000" dirty="0"/>
              <a:t> de la </a:t>
            </a:r>
            <a:r>
              <a:rPr lang="es-CL" sz="2000" dirty="0"/>
              <a:t>s</a:t>
            </a:r>
            <a:r>
              <a:rPr sz="2000" dirty="0" err="1"/>
              <a:t>abiduría</a:t>
            </a:r>
            <a:r>
              <a:rPr sz="2000" dirty="0"/>
              <a:t> </a:t>
            </a:r>
            <a:r>
              <a:rPr lang="es-CL" sz="2000" dirty="0"/>
              <a:t>m</a:t>
            </a:r>
            <a:r>
              <a:rPr sz="2000" dirty="0"/>
              <a:t>oral: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highlight>
                  <a:srgbClr val="FFFF00"/>
                </a:highlight>
              </a:rPr>
              <a:t>• No </a:t>
            </a:r>
            <a:r>
              <a:rPr sz="2000" b="1" dirty="0" err="1">
                <a:highlight>
                  <a:srgbClr val="FFFF00"/>
                </a:highlight>
              </a:rPr>
              <a:t>todo</a:t>
            </a:r>
            <a:r>
              <a:rPr sz="2000" b="1" dirty="0">
                <a:highlight>
                  <a:srgbClr val="FFFF00"/>
                </a:highlight>
              </a:rPr>
              <a:t> da lo </a:t>
            </a:r>
            <a:r>
              <a:rPr sz="2000" b="1" dirty="0" err="1">
                <a:highlight>
                  <a:srgbClr val="FFFF00"/>
                </a:highlight>
              </a:rPr>
              <a:t>mismo</a:t>
            </a:r>
            <a:r>
              <a:rPr sz="2000" b="1" dirty="0">
                <a:highlight>
                  <a:srgbClr val="FFFF00"/>
                </a:highlight>
              </a:rPr>
              <a:t>: </a:t>
            </a:r>
            <a:r>
              <a:rPr sz="2000" dirty="0" err="1"/>
              <a:t>Reconocer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hay </a:t>
            </a:r>
            <a:r>
              <a:rPr sz="2000" dirty="0" err="1"/>
              <a:t>elecciones</a:t>
            </a:r>
            <a:r>
              <a:rPr sz="2000" dirty="0"/>
              <a:t> </a:t>
            </a:r>
            <a:r>
              <a:rPr sz="2000" dirty="0" err="1"/>
              <a:t>cualitativamente</a:t>
            </a:r>
            <a:r>
              <a:rPr sz="2000" dirty="0"/>
              <a:t> </a:t>
            </a:r>
            <a:r>
              <a:rPr sz="2000" dirty="0" err="1"/>
              <a:t>superiores</a:t>
            </a:r>
            <a:r>
              <a:rPr sz="2000" dirty="0"/>
              <a:t> a </a:t>
            </a:r>
            <a:r>
              <a:rPr sz="2000" dirty="0" err="1"/>
              <a:t>otras</a:t>
            </a:r>
            <a:r>
              <a:rPr sz="2000" dirty="0"/>
              <a:t> en </a:t>
            </a:r>
            <a:r>
              <a:rPr sz="2000" dirty="0" err="1"/>
              <a:t>términos</a:t>
            </a:r>
            <a:r>
              <a:rPr sz="2000" dirty="0"/>
              <a:t> de </a:t>
            </a:r>
            <a:r>
              <a:rPr sz="2000" dirty="0" err="1"/>
              <a:t>desarrollo</a:t>
            </a:r>
            <a:r>
              <a:rPr sz="2000" dirty="0"/>
              <a:t> </a:t>
            </a:r>
            <a:r>
              <a:rPr sz="2000" dirty="0" err="1"/>
              <a:t>humano</a:t>
            </a:r>
            <a:r>
              <a:rPr sz="2000" dirty="0"/>
              <a:t>.</a:t>
            </a:r>
          </a:p>
          <a:p>
            <a:pPr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highlight>
                  <a:srgbClr val="FFFF00"/>
                </a:highlight>
              </a:rPr>
              <a:t>• El </a:t>
            </a:r>
            <a:r>
              <a:rPr sz="2000" b="1" dirty="0" err="1">
                <a:highlight>
                  <a:srgbClr val="FFFF00"/>
                </a:highlight>
              </a:rPr>
              <a:t>deber</a:t>
            </a:r>
            <a:r>
              <a:rPr sz="2000" b="1" dirty="0">
                <a:highlight>
                  <a:srgbClr val="FFFF00"/>
                </a:highlight>
              </a:rPr>
              <a:t> de </a:t>
            </a:r>
            <a:r>
              <a:rPr sz="2000" b="1" dirty="0" err="1">
                <a:highlight>
                  <a:srgbClr val="FFFF00"/>
                </a:highlight>
              </a:rPr>
              <a:t>implicarse</a:t>
            </a:r>
            <a:r>
              <a:rPr sz="2000" b="1" dirty="0">
                <a:highlight>
                  <a:srgbClr val="FFFF00"/>
                </a:highlight>
              </a:rPr>
              <a:t>: </a:t>
            </a:r>
            <a:r>
              <a:rPr sz="2000" dirty="0" err="1"/>
              <a:t>Frente</a:t>
            </a:r>
            <a:r>
              <a:rPr sz="2000" dirty="0"/>
              <a:t> a la </a:t>
            </a:r>
            <a:r>
              <a:rPr sz="2000" dirty="0" err="1"/>
              <a:t>realidad</a:t>
            </a:r>
            <a:r>
              <a:rPr sz="2000" dirty="0"/>
              <a:t> y al </a:t>
            </a:r>
            <a:r>
              <a:rPr sz="2000" dirty="0" err="1"/>
              <a:t>sufrimiento</a:t>
            </a:r>
            <a:r>
              <a:rPr sz="2000" dirty="0"/>
              <a:t> </a:t>
            </a:r>
            <a:r>
              <a:rPr sz="2000" dirty="0" err="1"/>
              <a:t>ajeno</a:t>
            </a:r>
            <a:r>
              <a:rPr sz="2000" dirty="0"/>
              <a:t>, el ser </a:t>
            </a:r>
            <a:r>
              <a:rPr sz="2000" dirty="0" err="1"/>
              <a:t>humano</a:t>
            </a:r>
            <a:r>
              <a:rPr sz="2000" dirty="0"/>
              <a:t> no </a:t>
            </a:r>
            <a:r>
              <a:rPr sz="2000" dirty="0" err="1"/>
              <a:t>puede</a:t>
            </a:r>
            <a:r>
              <a:rPr sz="2000" dirty="0"/>
              <a:t> </a:t>
            </a:r>
            <a:r>
              <a:rPr sz="2000" dirty="0" err="1"/>
              <a:t>sustraerse</a:t>
            </a:r>
            <a:r>
              <a:rPr sz="2000" dirty="0"/>
              <a:t> de </a:t>
            </a:r>
            <a:r>
              <a:rPr sz="2000" dirty="0" err="1"/>
              <a:t>alguna</a:t>
            </a:r>
            <a:r>
              <a:rPr sz="2000" dirty="0"/>
              <a:t> forma de </a:t>
            </a:r>
            <a:r>
              <a:rPr sz="2000" dirty="0" err="1"/>
              <a:t>implicación</a:t>
            </a:r>
            <a:r>
              <a:rPr sz="2000" dirty="0"/>
              <a:t> o </a:t>
            </a:r>
            <a:r>
              <a:rPr sz="2000" dirty="0" err="1"/>
              <a:t>toma</a:t>
            </a:r>
            <a:r>
              <a:rPr sz="2000" dirty="0"/>
              <a:t> de </a:t>
            </a:r>
            <a:r>
              <a:rPr sz="2000" dirty="0" err="1"/>
              <a:t>postura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rPr dirty="0"/>
              <a:t>Historia y </a:t>
            </a:r>
            <a:r>
              <a:rPr dirty="0" err="1"/>
              <a:t>Variabilidad</a:t>
            </a:r>
            <a:r>
              <a:rPr dirty="0"/>
              <a:t> Moral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origen</a:t>
            </a:r>
            <a:r>
              <a:rPr dirty="0"/>
              <a:t> de la </a:t>
            </a:r>
            <a:r>
              <a:rPr dirty="0" err="1"/>
              <a:t>reflexión</a:t>
            </a:r>
            <a:r>
              <a:rPr dirty="0"/>
              <a:t> </a:t>
            </a:r>
            <a:r>
              <a:rPr dirty="0" err="1"/>
              <a:t>ética</a:t>
            </a:r>
            <a:r>
              <a:rPr lang="es-CL" dirty="0"/>
              <a:t> (José Luis Aranguren)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Moral </a:t>
            </a:r>
            <a:r>
              <a:rPr sz="2000" dirty="0" err="1"/>
              <a:t>Vivida</a:t>
            </a:r>
            <a:endParaRPr sz="2000" dirty="0"/>
          </a:p>
          <a:p>
            <a:pPr>
              <a:spcAft>
                <a:spcPts val="14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Es la </a:t>
            </a:r>
            <a:r>
              <a:rPr sz="2000" dirty="0" err="1"/>
              <a:t>experiencia</a:t>
            </a:r>
            <a:r>
              <a:rPr sz="2000" dirty="0"/>
              <a:t> moral </a:t>
            </a:r>
            <a:r>
              <a:rPr sz="2000" dirty="0" err="1"/>
              <a:t>cotidiana</a:t>
            </a:r>
            <a:r>
              <a:rPr sz="2000" dirty="0"/>
              <a:t> y </a:t>
            </a:r>
            <a:r>
              <a:rPr sz="2000" dirty="0" err="1"/>
              <a:t>concreta</a:t>
            </a:r>
            <a:r>
              <a:rPr sz="2000" dirty="0"/>
              <a:t> de </a:t>
            </a:r>
            <a:r>
              <a:rPr sz="2000" dirty="0" err="1"/>
              <a:t>los</a:t>
            </a:r>
            <a:r>
              <a:rPr sz="2000" dirty="0"/>
              <a:t> pueblos, </a:t>
            </a:r>
            <a:r>
              <a:rPr sz="2000" dirty="0" err="1"/>
              <a:t>regulada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costumbres</a:t>
            </a:r>
            <a:r>
              <a:rPr sz="2000" dirty="0"/>
              <a:t>, </a:t>
            </a:r>
            <a:r>
              <a:rPr sz="2000" dirty="0" err="1"/>
              <a:t>códigos</a:t>
            </a:r>
            <a:r>
              <a:rPr sz="2000" dirty="0"/>
              <a:t> </a:t>
            </a:r>
            <a:r>
              <a:rPr sz="2000" dirty="0" err="1"/>
              <a:t>implícitos</a:t>
            </a:r>
            <a:r>
              <a:rPr sz="2000" dirty="0"/>
              <a:t> e </a:t>
            </a:r>
            <a:r>
              <a:rPr sz="2000" dirty="0" err="1"/>
              <a:t>instituciones</a:t>
            </a:r>
            <a:r>
              <a:rPr sz="2000" dirty="0"/>
              <a:t> </a:t>
            </a:r>
            <a:r>
              <a:rPr sz="2000" dirty="0" err="1"/>
              <a:t>culturales</a:t>
            </a:r>
            <a:r>
              <a:rPr sz="2000" dirty="0"/>
              <a:t>.</a:t>
            </a:r>
          </a:p>
          <a:p>
            <a:pPr>
              <a:defRPr sz="15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Histórica</a:t>
            </a:r>
            <a:r>
              <a:rPr sz="2000" dirty="0"/>
              <a:t> y Variable: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Se </a:t>
            </a:r>
            <a:r>
              <a:rPr sz="2000" dirty="0" err="1"/>
              <a:t>ve</a:t>
            </a:r>
            <a:r>
              <a:rPr sz="2000" dirty="0"/>
              <a:t> </a:t>
            </a:r>
            <a:r>
              <a:rPr sz="2000" dirty="0" err="1"/>
              <a:t>profundamente</a:t>
            </a:r>
            <a:r>
              <a:rPr sz="2000" dirty="0"/>
              <a:t> </a:t>
            </a:r>
            <a:r>
              <a:rPr sz="2000" dirty="0" err="1"/>
              <a:t>afectada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las </a:t>
            </a:r>
            <a:r>
              <a:rPr sz="2000" dirty="0" err="1"/>
              <a:t>variaciones</a:t>
            </a:r>
            <a:r>
              <a:rPr sz="2000" dirty="0"/>
              <a:t> </a:t>
            </a:r>
            <a:r>
              <a:rPr sz="2000" dirty="0" err="1"/>
              <a:t>culturales</a:t>
            </a:r>
            <a:r>
              <a:rPr sz="2000" dirty="0"/>
              <a:t>, </a:t>
            </a:r>
            <a:r>
              <a:rPr sz="2000" dirty="0" err="1"/>
              <a:t>geográficas</a:t>
            </a:r>
            <a:r>
              <a:rPr sz="2000" dirty="0"/>
              <a:t> e </a:t>
            </a:r>
            <a:r>
              <a:rPr sz="2000" dirty="0" err="1"/>
              <a:t>históricas</a:t>
            </a:r>
            <a:r>
              <a:rPr sz="2000" dirty="0"/>
              <a:t>, lo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plantea</a:t>
            </a:r>
            <a:r>
              <a:rPr sz="2000" dirty="0"/>
              <a:t> el </a:t>
            </a:r>
            <a:r>
              <a:rPr sz="2000" dirty="0" err="1"/>
              <a:t>problema</a:t>
            </a:r>
            <a:r>
              <a:rPr sz="2000" dirty="0"/>
              <a:t> </a:t>
            </a:r>
            <a:r>
              <a:rPr sz="2000" dirty="0" err="1"/>
              <a:t>existencial</a:t>
            </a:r>
            <a:r>
              <a:rPr sz="2000" dirty="0"/>
              <a:t> del </a:t>
            </a:r>
            <a:r>
              <a:rPr sz="2000" dirty="0" err="1"/>
              <a:t>relativismo</a:t>
            </a:r>
            <a:r>
              <a:rPr sz="2000" dirty="0"/>
              <a:t> moral.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Moral </a:t>
            </a:r>
            <a:r>
              <a:rPr sz="2000" dirty="0" err="1"/>
              <a:t>Pensada</a:t>
            </a:r>
            <a:r>
              <a:rPr sz="2000" dirty="0"/>
              <a:t> (Ética)</a:t>
            </a:r>
          </a:p>
          <a:p>
            <a:pPr>
              <a:spcAft>
                <a:spcPts val="14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Es el </a:t>
            </a:r>
            <a:r>
              <a:rPr sz="2000" dirty="0" err="1"/>
              <a:t>esfuerzo</a:t>
            </a:r>
            <a:r>
              <a:rPr sz="2000" dirty="0"/>
              <a:t> </a:t>
            </a:r>
            <a:r>
              <a:rPr sz="2000" dirty="0" err="1"/>
              <a:t>reflexivo</a:t>
            </a:r>
            <a:r>
              <a:rPr sz="2000" dirty="0"/>
              <a:t> y </a:t>
            </a:r>
            <a:r>
              <a:rPr sz="2000" dirty="0" err="1"/>
              <a:t>teórico</a:t>
            </a:r>
            <a:r>
              <a:rPr sz="2000" dirty="0"/>
              <a:t> de </a:t>
            </a:r>
            <a:r>
              <a:rPr sz="2000" dirty="0" err="1"/>
              <a:t>fundamentar</a:t>
            </a:r>
            <a:r>
              <a:rPr sz="2000" dirty="0"/>
              <a:t>, </a:t>
            </a:r>
            <a:r>
              <a:rPr sz="2000" dirty="0" err="1"/>
              <a:t>criticar</a:t>
            </a:r>
            <a:r>
              <a:rPr sz="2000" dirty="0"/>
              <a:t> y </a:t>
            </a:r>
            <a:r>
              <a:rPr sz="2000" dirty="0" err="1"/>
              <a:t>sistematizar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códigos</a:t>
            </a:r>
            <a:r>
              <a:rPr sz="2000" dirty="0"/>
              <a:t> morales </a:t>
            </a:r>
            <a:r>
              <a:rPr sz="2000" dirty="0" err="1"/>
              <a:t>heredados</a:t>
            </a:r>
            <a:r>
              <a:rPr sz="2000" dirty="0"/>
              <a:t>.</a:t>
            </a:r>
          </a:p>
          <a:p>
            <a:pPr>
              <a:defRPr sz="15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Siempre</a:t>
            </a:r>
            <a:r>
              <a:rPr sz="2000" dirty="0"/>
              <a:t> </a:t>
            </a:r>
            <a:r>
              <a:rPr lang="es-CL" sz="2000" dirty="0"/>
              <a:t>p</a:t>
            </a:r>
            <a:r>
              <a:rPr sz="2000" dirty="0" err="1"/>
              <a:t>osterior</a:t>
            </a:r>
            <a:r>
              <a:rPr sz="2000" dirty="0"/>
              <a:t>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ética</a:t>
            </a:r>
            <a:r>
              <a:rPr sz="2000" dirty="0"/>
              <a:t> </a:t>
            </a:r>
            <a:r>
              <a:rPr sz="2000" dirty="0" err="1"/>
              <a:t>siempre</a:t>
            </a:r>
            <a:r>
              <a:rPr sz="2000" dirty="0"/>
              <a:t> le </a:t>
            </a:r>
            <a:r>
              <a:rPr sz="2000" dirty="0" err="1"/>
              <a:t>sigue</a:t>
            </a:r>
            <a:r>
              <a:rPr sz="2000" dirty="0"/>
              <a:t> a la moral </a:t>
            </a:r>
            <a:r>
              <a:rPr sz="2000" dirty="0" err="1"/>
              <a:t>vivida</a:t>
            </a:r>
            <a:r>
              <a:rPr sz="2000" dirty="0"/>
              <a:t>. No </a:t>
            </a:r>
            <a:r>
              <a:rPr sz="2000" dirty="0" err="1"/>
              <a:t>inventa</a:t>
            </a:r>
            <a:r>
              <a:rPr sz="2000" dirty="0"/>
              <a:t> la </a:t>
            </a:r>
            <a:r>
              <a:rPr sz="2000" dirty="0" err="1"/>
              <a:t>moralidad</a:t>
            </a:r>
            <a:r>
              <a:rPr sz="2000" dirty="0"/>
              <a:t>; </a:t>
            </a:r>
            <a:r>
              <a:rPr sz="2000" dirty="0" err="1"/>
              <a:t>reflexiona</a:t>
            </a:r>
            <a:r>
              <a:rPr sz="2000" dirty="0"/>
              <a:t> </a:t>
            </a:r>
            <a:r>
              <a:rPr sz="2000" dirty="0" err="1"/>
              <a:t>críticamente</a:t>
            </a:r>
            <a:r>
              <a:rPr sz="2000" dirty="0"/>
              <a:t> </a:t>
            </a:r>
            <a:r>
              <a:rPr sz="2000" dirty="0" err="1"/>
              <a:t>sobre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experiencia</a:t>
            </a:r>
            <a:r>
              <a:rPr sz="2000" dirty="0"/>
              <a:t> previa y un dolor o </a:t>
            </a:r>
            <a:r>
              <a:rPr sz="2000" dirty="0" err="1"/>
              <a:t>acuerdo</a:t>
            </a:r>
            <a:r>
              <a:rPr sz="2000" dirty="0"/>
              <a:t> </a:t>
            </a:r>
            <a:r>
              <a:rPr sz="2000" dirty="0" err="1"/>
              <a:t>ya</a:t>
            </a:r>
            <a:r>
              <a:rPr sz="2000" dirty="0"/>
              <a:t> </a:t>
            </a:r>
            <a:r>
              <a:rPr sz="2000" dirty="0" err="1"/>
              <a:t>existente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Las Constantes Humanas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Elementos invariables de la estructura moral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962656" cy="334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3B4C"/>
                </a:solidFill>
                <a:latin typeface="Georgia"/>
              </a:defRPr>
            </a:pPr>
            <a:r>
              <a:rPr sz="2000"/>
              <a:t>Hacer el bien</a:t>
            </a:r>
          </a:p>
          <a:p>
            <a:pPr>
              <a:spcAft>
                <a:spcPts val="1400"/>
              </a:spcAft>
              <a:defRPr sz="1300" b="1">
                <a:solidFill>
                  <a:srgbClr val="C85A32"/>
                </a:solidFill>
                <a:latin typeface="Arial"/>
              </a:defRPr>
            </a:pPr>
            <a:r>
              <a:rPr sz="2000"/>
              <a:t>Primer principio práctico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/>
              <a:t>A pesar de las notables diferencias históricas sobre lo que se considera 'bueno', toda sociedad opera bajo el mandato basal de 'hacer el bien y evitar el mal'.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20624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2011680"/>
            <a:ext cx="2962656" cy="304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No </a:t>
            </a:r>
            <a:r>
              <a:rPr sz="2000" dirty="0" err="1"/>
              <a:t>Indiferencia</a:t>
            </a:r>
            <a:endParaRPr sz="2000" dirty="0"/>
          </a:p>
          <a:p>
            <a:pPr>
              <a:spcAft>
                <a:spcPts val="1400"/>
              </a:spcAft>
              <a:defRPr sz="13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presencia</a:t>
            </a:r>
            <a:r>
              <a:rPr sz="2000" dirty="0"/>
              <a:t> del </a:t>
            </a:r>
            <a:r>
              <a:rPr sz="2000" dirty="0" err="1"/>
              <a:t>Otro</a:t>
            </a:r>
            <a:endParaRPr sz="2000" dirty="0"/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En la </a:t>
            </a:r>
            <a:r>
              <a:rPr sz="2000" dirty="0" err="1"/>
              <a:t>relación</a:t>
            </a:r>
            <a:r>
              <a:rPr sz="2000" dirty="0"/>
              <a:t> </a:t>
            </a:r>
            <a:r>
              <a:rPr sz="2000" dirty="0" err="1"/>
              <a:t>respecto</a:t>
            </a:r>
            <a:r>
              <a:rPr sz="2000" dirty="0"/>
              <a:t> de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demás</a:t>
            </a:r>
            <a:r>
              <a:rPr sz="2000" dirty="0"/>
              <a:t>, </a:t>
            </a:r>
            <a:r>
              <a:rPr sz="2000" dirty="0" err="1"/>
              <a:t>nunca</a:t>
            </a:r>
            <a:r>
              <a:rPr sz="2000" dirty="0"/>
              <a:t> es </a:t>
            </a:r>
            <a:r>
              <a:rPr sz="2000" dirty="0" err="1"/>
              <a:t>posible</a:t>
            </a:r>
            <a:r>
              <a:rPr sz="2000" dirty="0"/>
              <a:t> la </a:t>
            </a:r>
            <a:r>
              <a:rPr sz="2000" dirty="0" err="1"/>
              <a:t>indiferencia</a:t>
            </a:r>
            <a:r>
              <a:rPr sz="2000" dirty="0"/>
              <a:t> </a:t>
            </a:r>
            <a:r>
              <a:rPr sz="2000" dirty="0" err="1"/>
              <a:t>absoluta</a:t>
            </a:r>
            <a:r>
              <a:rPr sz="2000" dirty="0"/>
              <a:t>. Las </a:t>
            </a:r>
            <a:r>
              <a:rPr sz="2000" dirty="0" err="1"/>
              <a:t>acciones</a:t>
            </a:r>
            <a:r>
              <a:rPr sz="2000" dirty="0"/>
              <a:t> de uno </a:t>
            </a:r>
            <a:r>
              <a:rPr sz="2000" dirty="0" err="1"/>
              <a:t>inevitablemente</a:t>
            </a:r>
            <a:r>
              <a:rPr sz="2000" dirty="0"/>
              <a:t> </a:t>
            </a:r>
            <a:r>
              <a:rPr sz="2000" dirty="0" err="1"/>
              <a:t>afectan</a:t>
            </a:r>
            <a:r>
              <a:rPr sz="2000" dirty="0"/>
              <a:t> la </a:t>
            </a:r>
            <a:r>
              <a:rPr sz="2000" dirty="0" err="1"/>
              <a:t>vida</a:t>
            </a:r>
            <a:r>
              <a:rPr sz="2000" dirty="0"/>
              <a:t> y la </a:t>
            </a:r>
            <a:r>
              <a:rPr sz="2000" dirty="0" err="1"/>
              <a:t>psique</a:t>
            </a:r>
            <a:r>
              <a:rPr sz="2000" dirty="0"/>
              <a:t> del </a:t>
            </a:r>
            <a:r>
              <a:rPr sz="2000" dirty="0" err="1"/>
              <a:t>otro</a:t>
            </a:r>
            <a:r>
              <a:rPr sz="20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737360"/>
            <a:ext cx="3328416" cy="420624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962656" cy="3349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El </a:t>
            </a:r>
            <a:r>
              <a:rPr sz="2000" dirty="0" err="1"/>
              <a:t>Lenguaje</a:t>
            </a:r>
            <a:endParaRPr sz="2000" dirty="0"/>
          </a:p>
          <a:p>
            <a:pPr>
              <a:spcAft>
                <a:spcPts val="1400"/>
              </a:spcAft>
              <a:defRPr sz="1300" b="1">
                <a:solidFill>
                  <a:srgbClr val="C85A32"/>
                </a:solidFill>
                <a:latin typeface="Arial"/>
              </a:defRPr>
            </a:pPr>
            <a:r>
              <a:rPr sz="2000" dirty="0" err="1"/>
              <a:t>Juicio</a:t>
            </a:r>
            <a:r>
              <a:rPr sz="2000" dirty="0"/>
              <a:t> </a:t>
            </a:r>
            <a:r>
              <a:rPr sz="2000" dirty="0" err="1"/>
              <a:t>constante</a:t>
            </a:r>
            <a:endParaRPr sz="2000" dirty="0"/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El </a:t>
            </a:r>
            <a:r>
              <a:rPr sz="2000" dirty="0" err="1"/>
              <a:t>lenguaje</a:t>
            </a:r>
            <a:r>
              <a:rPr sz="2000" dirty="0"/>
              <a:t> de la </a:t>
            </a:r>
            <a:r>
              <a:rPr sz="2000" dirty="0" err="1"/>
              <a:t>valoración</a:t>
            </a:r>
            <a:r>
              <a:rPr sz="2000" dirty="0"/>
              <a:t> moral es </a:t>
            </a:r>
            <a:r>
              <a:rPr sz="2000" dirty="0" err="1"/>
              <a:t>inherente</a:t>
            </a:r>
            <a:r>
              <a:rPr sz="2000" dirty="0"/>
              <a:t> al ser </a:t>
            </a:r>
            <a:r>
              <a:rPr sz="2000" dirty="0" err="1"/>
              <a:t>humano</a:t>
            </a:r>
            <a:r>
              <a:rPr sz="2000" dirty="0"/>
              <a:t>. En </a:t>
            </a:r>
            <a:r>
              <a:rPr sz="2000" dirty="0" err="1"/>
              <a:t>todo</a:t>
            </a:r>
            <a:r>
              <a:rPr sz="2000" dirty="0"/>
              <a:t> </a:t>
            </a:r>
            <a:r>
              <a:rPr sz="2000" dirty="0" err="1"/>
              <a:t>tiempo</a:t>
            </a:r>
            <a:r>
              <a:rPr sz="2000" dirty="0"/>
              <a:t> y </a:t>
            </a:r>
            <a:r>
              <a:rPr sz="2000" dirty="0" err="1"/>
              <a:t>lugar</a:t>
            </a:r>
            <a:r>
              <a:rPr sz="2000" dirty="0"/>
              <a:t> </a:t>
            </a:r>
            <a:r>
              <a:rPr sz="2000" dirty="0" err="1"/>
              <a:t>solemos</a:t>
            </a:r>
            <a:r>
              <a:rPr sz="2000" dirty="0"/>
              <a:t> </a:t>
            </a:r>
            <a:r>
              <a:rPr sz="2000" dirty="0" err="1"/>
              <a:t>clasificar</a:t>
            </a:r>
            <a:r>
              <a:rPr sz="2000" dirty="0"/>
              <a:t> las </a:t>
            </a:r>
            <a:r>
              <a:rPr sz="2000" dirty="0" err="1"/>
              <a:t>conductas</a:t>
            </a:r>
            <a:r>
              <a:rPr sz="2000" dirty="0"/>
              <a:t> en </a:t>
            </a:r>
            <a:r>
              <a:rPr sz="2000" dirty="0" err="1"/>
              <a:t>descriptivas</a:t>
            </a:r>
            <a:r>
              <a:rPr sz="2000" dirty="0"/>
              <a:t> y </a:t>
            </a:r>
            <a:r>
              <a:rPr sz="2000" dirty="0" err="1"/>
              <a:t>valorativas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Evolución de los Modelos de Humanidad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La pluralidad moral y el desencantamiento del mundo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62656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Edad Media</a:t>
            </a:r>
          </a:p>
          <a:p>
            <a:pPr>
              <a:spcAft>
                <a:spcPts val="800"/>
              </a:spcAft>
              <a:defRPr sz="18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El Caballero </a:t>
            </a:r>
            <a:r>
              <a:rPr sz="2000" dirty="0" err="1"/>
              <a:t>Sacralizado</a:t>
            </a:r>
            <a:endParaRPr sz="2000" dirty="0"/>
          </a:p>
          <a:p>
            <a:pPr>
              <a:defRPr sz="13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Orientado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el honor, la </a:t>
            </a:r>
            <a:r>
              <a:rPr sz="2000" dirty="0" err="1"/>
              <a:t>fe</a:t>
            </a:r>
            <a:r>
              <a:rPr sz="2000" dirty="0"/>
              <a:t> religiosa </a:t>
            </a:r>
            <a:r>
              <a:rPr sz="2000" dirty="0" err="1"/>
              <a:t>hegemónica</a:t>
            </a:r>
            <a:r>
              <a:rPr sz="2000" dirty="0"/>
              <a:t> y el </a:t>
            </a:r>
            <a:r>
              <a:rPr sz="2000" dirty="0" err="1"/>
              <a:t>heroísmo</a:t>
            </a:r>
            <a:r>
              <a:rPr sz="2000" dirty="0"/>
              <a:t> </a:t>
            </a:r>
            <a:r>
              <a:rPr sz="2000" dirty="0" err="1"/>
              <a:t>caballeresco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292608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1828800"/>
            <a:ext cx="2962656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85A32"/>
                </a:solidFill>
                <a:latin typeface="Arial"/>
              </a:defRPr>
            </a:pPr>
            <a:r>
              <a:rPr sz="2000" dirty="0" err="1"/>
              <a:t>Modernidad</a:t>
            </a:r>
            <a:endParaRPr sz="2000" dirty="0"/>
          </a:p>
          <a:p>
            <a:pPr>
              <a:spcAft>
                <a:spcPts val="800"/>
              </a:spcAft>
              <a:defRPr sz="18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El Virtuoso </a:t>
            </a:r>
            <a:r>
              <a:rPr sz="2000" dirty="0" err="1"/>
              <a:t>Humanista</a:t>
            </a:r>
            <a:endParaRPr sz="2000" dirty="0"/>
          </a:p>
          <a:p>
            <a:pPr>
              <a:defRPr sz="13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Sujeto</a:t>
            </a:r>
            <a:r>
              <a:rPr sz="2000" dirty="0"/>
              <a:t> </a:t>
            </a:r>
            <a:r>
              <a:rPr sz="2000" dirty="0" err="1"/>
              <a:t>autónomo</a:t>
            </a:r>
            <a:r>
              <a:rPr sz="2000" dirty="0"/>
              <a:t> de la </a:t>
            </a:r>
            <a:r>
              <a:rPr sz="2000" dirty="0" err="1"/>
              <a:t>Ilustración</a:t>
            </a:r>
            <a:r>
              <a:rPr sz="2000" dirty="0"/>
              <a:t>, </a:t>
            </a:r>
            <a:r>
              <a:rPr sz="2000" dirty="0" err="1"/>
              <a:t>orientado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la </a:t>
            </a:r>
            <a:r>
              <a:rPr sz="2000" dirty="0" err="1"/>
              <a:t>razón</a:t>
            </a:r>
            <a:r>
              <a:rPr sz="2000" dirty="0"/>
              <a:t> secular, la </a:t>
            </a:r>
            <a:r>
              <a:rPr sz="2000" dirty="0" err="1"/>
              <a:t>ciencia</a:t>
            </a:r>
            <a:r>
              <a:rPr sz="2000" dirty="0"/>
              <a:t> y la </a:t>
            </a:r>
            <a:r>
              <a:rPr sz="2000" dirty="0" err="1"/>
              <a:t>virtud</a:t>
            </a:r>
            <a:r>
              <a:rPr sz="2000" dirty="0"/>
              <a:t> </a:t>
            </a:r>
            <a:r>
              <a:rPr sz="2000" dirty="0" err="1"/>
              <a:t>cívica</a:t>
            </a:r>
            <a:r>
              <a:rPr sz="20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292608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1828800"/>
            <a:ext cx="2962656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C85A32"/>
                </a:solidFill>
                <a:latin typeface="Arial"/>
              </a:defRPr>
            </a:pPr>
            <a:r>
              <a:rPr sz="2000" dirty="0" err="1"/>
              <a:t>Presente</a:t>
            </a:r>
            <a:endParaRPr sz="2000" dirty="0"/>
          </a:p>
          <a:p>
            <a:pPr>
              <a:spcAft>
                <a:spcPts val="800"/>
              </a:spcAft>
              <a:defRPr sz="18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</a:t>
            </a:r>
            <a:r>
              <a:rPr sz="2000" dirty="0" err="1"/>
              <a:t>Figura</a:t>
            </a:r>
            <a:r>
              <a:rPr sz="2000" dirty="0"/>
              <a:t> del </a:t>
            </a:r>
            <a:r>
              <a:rPr sz="2000" dirty="0" err="1"/>
              <a:t>Éxito</a:t>
            </a:r>
            <a:endParaRPr sz="2000" dirty="0"/>
          </a:p>
          <a:p>
            <a:pPr>
              <a:defRPr sz="13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Orientado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la </a:t>
            </a:r>
            <a:r>
              <a:rPr sz="2000" dirty="0" err="1"/>
              <a:t>eficacia</a:t>
            </a:r>
            <a:r>
              <a:rPr sz="2000" dirty="0"/>
              <a:t>, el </a:t>
            </a:r>
            <a:r>
              <a:rPr sz="2000" dirty="0" err="1"/>
              <a:t>consumo</a:t>
            </a:r>
            <a:r>
              <a:rPr sz="2000" dirty="0"/>
              <a:t>, la </a:t>
            </a:r>
            <a:r>
              <a:rPr sz="2000" dirty="0" err="1"/>
              <a:t>autonomía</a:t>
            </a:r>
            <a:r>
              <a:rPr sz="2000" dirty="0"/>
              <a:t> personal, la </a:t>
            </a:r>
            <a:r>
              <a:rPr sz="2000" dirty="0" err="1"/>
              <a:t>flexibilidad</a:t>
            </a:r>
            <a:r>
              <a:rPr sz="2000" dirty="0"/>
              <a:t> y el </a:t>
            </a:r>
            <a:r>
              <a:rPr sz="2000" dirty="0" err="1"/>
              <a:t>pragmatismo</a:t>
            </a:r>
            <a:r>
              <a:rPr sz="20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7286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3B4C"/>
                </a:solidFill>
                <a:latin typeface="Arial"/>
              </a:defRPr>
            </a:pPr>
            <a:r>
              <a:rPr sz="2000" dirty="0"/>
              <a:t>El Proceso Contemporáneo: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El '</a:t>
            </a:r>
            <a:r>
              <a:rPr sz="2000" dirty="0" err="1"/>
              <a:t>desencantamiento</a:t>
            </a:r>
            <a:r>
              <a:rPr sz="2000" dirty="0"/>
              <a:t> del </a:t>
            </a:r>
            <a:r>
              <a:rPr sz="2000" dirty="0" err="1"/>
              <a:t>mundo</a:t>
            </a:r>
            <a:r>
              <a:rPr sz="2000" dirty="0"/>
              <a:t>' (</a:t>
            </a:r>
            <a:r>
              <a:rPr sz="2000" dirty="0" err="1"/>
              <a:t>pérdida</a:t>
            </a:r>
            <a:r>
              <a:rPr sz="2000" dirty="0"/>
              <a:t> de </a:t>
            </a:r>
            <a:r>
              <a:rPr sz="2000" dirty="0" err="1"/>
              <a:t>hegemonía</a:t>
            </a:r>
            <a:r>
              <a:rPr sz="2000" dirty="0"/>
              <a:t> de la </a:t>
            </a:r>
            <a:r>
              <a:rPr sz="2000" dirty="0" err="1"/>
              <a:t>verdad</a:t>
            </a:r>
            <a:r>
              <a:rPr sz="2000" dirty="0"/>
              <a:t> religiosa) </a:t>
            </a:r>
            <a:r>
              <a:rPr sz="2000" dirty="0" err="1"/>
              <a:t>fragmenta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modelos</a:t>
            </a:r>
            <a:r>
              <a:rPr sz="2000" dirty="0"/>
              <a:t> </a:t>
            </a:r>
            <a:r>
              <a:rPr sz="2000" dirty="0" err="1"/>
              <a:t>tradicionales</a:t>
            </a:r>
            <a:r>
              <a:rPr sz="2000" dirty="0"/>
              <a:t> de </a:t>
            </a:r>
            <a:r>
              <a:rPr sz="2000" dirty="0" err="1"/>
              <a:t>humanidad</a:t>
            </a:r>
            <a:r>
              <a:rPr sz="2000" dirty="0"/>
              <a:t>. Esta </a:t>
            </a:r>
            <a:r>
              <a:rPr sz="2000" dirty="0" err="1"/>
              <a:t>pluralidad</a:t>
            </a:r>
            <a:r>
              <a:rPr sz="2000" dirty="0"/>
              <a:t> </a:t>
            </a:r>
            <a:r>
              <a:rPr sz="2000" dirty="0" err="1"/>
              <a:t>aumenta</a:t>
            </a:r>
            <a:r>
              <a:rPr sz="2000" dirty="0"/>
              <a:t> la </a:t>
            </a:r>
            <a:r>
              <a:rPr sz="2000" dirty="0" err="1"/>
              <a:t>diversidad</a:t>
            </a:r>
            <a:r>
              <a:rPr sz="2000" dirty="0"/>
              <a:t> y la </a:t>
            </a:r>
            <a:r>
              <a:rPr sz="2000" dirty="0" err="1"/>
              <a:t>incertidumbre</a:t>
            </a:r>
            <a:r>
              <a:rPr sz="2000" dirty="0"/>
              <a:t>, </a:t>
            </a:r>
            <a:r>
              <a:rPr sz="2000" dirty="0" err="1"/>
              <a:t>pero</a:t>
            </a:r>
            <a:r>
              <a:rPr sz="2000" dirty="0"/>
              <a:t> </a:t>
            </a:r>
            <a:r>
              <a:rPr sz="2000" dirty="0" err="1"/>
              <a:t>ofrece</a:t>
            </a:r>
            <a:r>
              <a:rPr sz="2000" dirty="0"/>
              <a:t> </a:t>
            </a:r>
            <a:r>
              <a:rPr sz="2000" dirty="0" err="1"/>
              <a:t>mayores</a:t>
            </a:r>
            <a:r>
              <a:rPr sz="2000" dirty="0"/>
              <a:t> </a:t>
            </a:r>
            <a:r>
              <a:rPr sz="2000" dirty="0" err="1"/>
              <a:t>espacios</a:t>
            </a:r>
            <a:r>
              <a:rPr sz="2000" dirty="0"/>
              <a:t> de </a:t>
            </a:r>
            <a:r>
              <a:rPr sz="2000" dirty="0" err="1"/>
              <a:t>libertad</a:t>
            </a:r>
            <a:r>
              <a:rPr sz="2000" dirty="0"/>
              <a:t>, </a:t>
            </a:r>
            <a:r>
              <a:rPr sz="2000" dirty="0" err="1"/>
              <a:t>autodefinición</a:t>
            </a:r>
            <a:r>
              <a:rPr sz="2000" dirty="0"/>
              <a:t> y </a:t>
            </a:r>
            <a:r>
              <a:rPr sz="2000" dirty="0" err="1"/>
              <a:t>creación</a:t>
            </a:r>
            <a:r>
              <a:rPr sz="2000" dirty="0"/>
              <a:t> </a:t>
            </a:r>
            <a:r>
              <a:rPr sz="2000" dirty="0" err="1"/>
              <a:t>ética</a:t>
            </a:r>
            <a:r>
              <a:rPr sz="2000" dirty="0"/>
              <a:t> </a:t>
            </a:r>
            <a:r>
              <a:rPr sz="2000" dirty="0" err="1"/>
              <a:t>genuina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rPr dirty="0"/>
              <a:t>La </a:t>
            </a:r>
            <a:r>
              <a:rPr dirty="0" err="1"/>
              <a:t>Tensión</a:t>
            </a:r>
            <a:r>
              <a:rPr dirty="0"/>
              <a:t> </a:t>
            </a:r>
            <a:r>
              <a:rPr dirty="0" err="1"/>
              <a:t>Contemporánea</a:t>
            </a:r>
            <a:r>
              <a:rPr dirty="0"/>
              <a:t>: </a:t>
            </a:r>
            <a:r>
              <a:rPr dirty="0" err="1"/>
              <a:t>Máximos</a:t>
            </a:r>
            <a:r>
              <a:rPr dirty="0"/>
              <a:t> y </a:t>
            </a:r>
            <a:r>
              <a:rPr dirty="0" err="1"/>
              <a:t>Mínimos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rPr dirty="0"/>
              <a:t>Articular la </a:t>
            </a:r>
            <a:r>
              <a:rPr dirty="0" err="1"/>
              <a:t>pluralidad</a:t>
            </a:r>
            <a:r>
              <a:rPr dirty="0"/>
              <a:t> de la </a:t>
            </a:r>
            <a:r>
              <a:rPr dirty="0" err="1"/>
              <a:t>felicidad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deberes</a:t>
            </a:r>
            <a:r>
              <a:rPr dirty="0"/>
              <a:t> de </a:t>
            </a:r>
            <a:r>
              <a:rPr dirty="0" err="1"/>
              <a:t>justicia</a:t>
            </a:r>
            <a:r>
              <a:rPr lang="es-CL" dirty="0"/>
              <a:t> (Adela Cortina)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65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85A32"/>
                </a:solidFill>
                <a:latin typeface="Georgia"/>
              </a:defRPr>
            </a:pPr>
            <a:r>
              <a:rPr sz="2000"/>
              <a:t>La Ética de Máximos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>
                <a:solidFill>
                  <a:srgbClr val="C85A32"/>
                </a:solidFill>
              </a:rPr>
              <a:t>• Ideales de Felicidad:</a:t>
            </a:r>
            <a:r>
              <a:rPr sz="2000"/>
              <a:t> Apunta a la autorrealización, el sentido de vida y la salvación personal.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>
                <a:solidFill>
                  <a:srgbClr val="C85A32"/>
                </a:solidFill>
              </a:rPr>
              <a:t>• Subjetiva y Plural:</a:t>
            </a:r>
            <a:r>
              <a:rPr sz="2000"/>
              <a:t> Pueden existir múltiples concepciones válidas y disímiles de vida buena.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>
                <a:solidFill>
                  <a:srgbClr val="C85A32"/>
                </a:solidFill>
              </a:rPr>
              <a:t>• Lógica de Invitación:</a:t>
            </a:r>
            <a:r>
              <a:rPr sz="2000"/>
              <a:t> Funciona mediante el consejo y la propuesta atractiva; nunca por la coacción.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65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La Ética de </a:t>
            </a:r>
            <a:r>
              <a:rPr sz="2000" dirty="0" err="1"/>
              <a:t>Mínimos</a:t>
            </a:r>
            <a:endParaRPr sz="2000" dirty="0"/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solidFill>
                  <a:srgbClr val="2A3B4C"/>
                </a:solidFill>
              </a:rPr>
              <a:t>• Justicia </a:t>
            </a:r>
            <a:r>
              <a:rPr sz="2000" b="1" dirty="0" err="1">
                <a:solidFill>
                  <a:srgbClr val="2A3B4C"/>
                </a:solidFill>
              </a:rPr>
              <a:t>Exigible</a:t>
            </a:r>
            <a:r>
              <a:rPr sz="2000" b="1" dirty="0">
                <a:solidFill>
                  <a:srgbClr val="2A3B4C"/>
                </a:solidFill>
              </a:rPr>
              <a:t>:</a:t>
            </a:r>
            <a:r>
              <a:rPr sz="2000" dirty="0"/>
              <a:t> Lo </a:t>
            </a:r>
            <a:r>
              <a:rPr sz="2000" dirty="0" err="1"/>
              <a:t>mínimo</a:t>
            </a:r>
            <a:r>
              <a:rPr sz="2000" dirty="0"/>
              <a:t> indispensable para </a:t>
            </a:r>
            <a:r>
              <a:rPr sz="2000" dirty="0" err="1"/>
              <a:t>posibilitar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convivencia</a:t>
            </a:r>
            <a:r>
              <a:rPr sz="2000" dirty="0"/>
              <a:t> </a:t>
            </a:r>
            <a:r>
              <a:rPr sz="2000" dirty="0" err="1"/>
              <a:t>sociopolítica</a:t>
            </a:r>
            <a:r>
              <a:rPr sz="2000" dirty="0"/>
              <a:t> </a:t>
            </a:r>
            <a:r>
              <a:rPr sz="2000" dirty="0" err="1"/>
              <a:t>digna</a:t>
            </a:r>
            <a:r>
              <a:rPr sz="2000" dirty="0"/>
              <a:t>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solidFill>
                  <a:srgbClr val="2A3B4C"/>
                </a:solidFill>
              </a:rPr>
              <a:t>• Universalizable:</a:t>
            </a:r>
            <a:r>
              <a:rPr sz="2000" dirty="0"/>
              <a:t> De </a:t>
            </a:r>
            <a:r>
              <a:rPr sz="2000" dirty="0" err="1"/>
              <a:t>obligatorio</a:t>
            </a:r>
            <a:r>
              <a:rPr sz="2000" dirty="0"/>
              <a:t> </a:t>
            </a:r>
            <a:r>
              <a:rPr sz="2000" dirty="0" err="1"/>
              <a:t>cumplimiento</a:t>
            </a:r>
            <a:r>
              <a:rPr sz="2000" dirty="0"/>
              <a:t> para </a:t>
            </a:r>
            <a:r>
              <a:rPr sz="2000" dirty="0" err="1"/>
              <a:t>todos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actores</a:t>
            </a:r>
            <a:r>
              <a:rPr sz="2000" dirty="0"/>
              <a:t> de la comunidad.</a:t>
            </a:r>
          </a:p>
          <a:p>
            <a:pPr>
              <a:spcAft>
                <a:spcPts val="12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>
                <a:solidFill>
                  <a:srgbClr val="2A3B4C"/>
                </a:solidFill>
              </a:rPr>
              <a:t>• Derechos Humanos:</a:t>
            </a:r>
            <a:r>
              <a:rPr sz="2000" dirty="0"/>
              <a:t> </a:t>
            </a:r>
            <a:r>
              <a:rPr sz="2000" dirty="0" err="1"/>
              <a:t>Constituyen</a:t>
            </a:r>
            <a:r>
              <a:rPr sz="2000" dirty="0"/>
              <a:t> el </a:t>
            </a:r>
            <a:r>
              <a:rPr sz="2000" dirty="0" err="1"/>
              <a:t>núcleo</a:t>
            </a:r>
            <a:r>
              <a:rPr sz="2000" dirty="0"/>
              <a:t> de </a:t>
            </a:r>
            <a:r>
              <a:rPr sz="2000" dirty="0" err="1"/>
              <a:t>estos</a:t>
            </a:r>
            <a:r>
              <a:rPr sz="2000" dirty="0"/>
              <a:t> </a:t>
            </a:r>
            <a:r>
              <a:rPr sz="2000" dirty="0" err="1"/>
              <a:t>mínimos</a:t>
            </a:r>
            <a:r>
              <a:rPr sz="2000" dirty="0"/>
              <a:t> </a:t>
            </a:r>
            <a:r>
              <a:rPr sz="2000" dirty="0" err="1"/>
              <a:t>axiológicos</a:t>
            </a:r>
            <a:r>
              <a:rPr sz="2000" dirty="0"/>
              <a:t> </a:t>
            </a:r>
            <a:r>
              <a:rPr sz="2000" dirty="0" err="1"/>
              <a:t>exigibles</a:t>
            </a:r>
            <a:r>
              <a:rPr sz="2000" dirty="0"/>
              <a:t> de forma </a:t>
            </a:r>
            <a:r>
              <a:rPr sz="2000" dirty="0" err="1"/>
              <a:t>absoluta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El Desgarramiento Ético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Los imperativos frente a la colisión de deberes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Los </a:t>
            </a:r>
            <a:r>
              <a:rPr sz="2000" dirty="0" err="1"/>
              <a:t>Juicios</a:t>
            </a:r>
            <a:r>
              <a:rPr sz="2000" dirty="0"/>
              <a:t> </a:t>
            </a:r>
            <a:r>
              <a:rPr sz="2000" dirty="0" err="1"/>
              <a:t>Prescriptivos</a:t>
            </a:r>
            <a:endParaRPr sz="2000" dirty="0"/>
          </a:p>
          <a:p>
            <a:pPr>
              <a:spcAft>
                <a:spcPts val="14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Son </a:t>
            </a:r>
            <a:r>
              <a:rPr sz="2000" dirty="0" err="1"/>
              <a:t>mandatos</a:t>
            </a:r>
            <a:r>
              <a:rPr sz="2000" dirty="0"/>
              <a:t> </a:t>
            </a:r>
            <a:r>
              <a:rPr sz="2000" dirty="0" err="1"/>
              <a:t>imperativos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mandan</a:t>
            </a:r>
            <a:r>
              <a:rPr sz="2000" dirty="0"/>
              <a:t> y </a:t>
            </a:r>
            <a:r>
              <a:rPr sz="2000" dirty="0" err="1"/>
              <a:t>obligan</a:t>
            </a:r>
            <a:r>
              <a:rPr sz="2000" dirty="0"/>
              <a:t> </a:t>
            </a:r>
            <a:r>
              <a:rPr sz="2000" dirty="0" err="1"/>
              <a:t>moralmente</a:t>
            </a:r>
            <a:r>
              <a:rPr sz="2000" dirty="0"/>
              <a:t>, </a:t>
            </a:r>
            <a:r>
              <a:rPr sz="2000" dirty="0" err="1"/>
              <a:t>imponiendo</a:t>
            </a:r>
            <a:r>
              <a:rPr sz="2000" dirty="0"/>
              <a:t> </a:t>
            </a:r>
            <a:r>
              <a:rPr sz="2000" dirty="0" err="1"/>
              <a:t>deberes</a:t>
            </a:r>
            <a:r>
              <a:rPr sz="2000" dirty="0"/>
              <a:t> </a:t>
            </a:r>
            <a:r>
              <a:rPr sz="2000" dirty="0" err="1"/>
              <a:t>fundamentales</a:t>
            </a:r>
            <a:r>
              <a:rPr sz="2000" dirty="0"/>
              <a:t> de </a:t>
            </a:r>
            <a:r>
              <a:rPr sz="2000" dirty="0" err="1"/>
              <a:t>conducta</a:t>
            </a:r>
            <a:r>
              <a:rPr sz="2000" dirty="0"/>
              <a:t> en </a:t>
            </a:r>
            <a:r>
              <a:rPr sz="2000" dirty="0" err="1"/>
              <a:t>nuestras</a:t>
            </a:r>
            <a:r>
              <a:rPr sz="2000" dirty="0"/>
              <a:t> </a:t>
            </a:r>
            <a:r>
              <a:rPr sz="2000" dirty="0" err="1"/>
              <a:t>relaciones</a:t>
            </a:r>
            <a:r>
              <a:rPr sz="2000" dirty="0"/>
              <a:t> </a:t>
            </a:r>
            <a:r>
              <a:rPr sz="2000" dirty="0" err="1"/>
              <a:t>relacionales</a:t>
            </a:r>
            <a:r>
              <a:rPr sz="2000" dirty="0"/>
              <a:t> y </a:t>
            </a:r>
            <a:r>
              <a:rPr sz="2000" dirty="0" err="1"/>
              <a:t>profesionales</a:t>
            </a:r>
            <a:r>
              <a:rPr sz="2000" dirty="0"/>
              <a:t>.</a:t>
            </a:r>
            <a:endParaRPr lang="es-CL" sz="2000" dirty="0"/>
          </a:p>
          <a:p>
            <a:pPr>
              <a:spcAft>
                <a:spcPts val="1400"/>
              </a:spcAft>
              <a:defRPr sz="1500">
                <a:solidFill>
                  <a:srgbClr val="2B2B2B"/>
                </a:solidFill>
                <a:latin typeface="Arial"/>
              </a:defRPr>
            </a:pPr>
            <a:endParaRPr sz="2000" dirty="0"/>
          </a:p>
          <a:p>
            <a:pPr>
              <a:defRPr sz="1600" i="1">
                <a:solidFill>
                  <a:srgbClr val="C85A32"/>
                </a:solidFill>
                <a:latin typeface="Georgia"/>
              </a:defRPr>
            </a:pPr>
            <a:r>
              <a:rPr sz="2000" b="1" dirty="0"/>
              <a:t>“El </a:t>
            </a:r>
            <a:r>
              <a:rPr sz="2000" b="1" dirty="0" err="1"/>
              <a:t>deber</a:t>
            </a:r>
            <a:r>
              <a:rPr sz="2000" b="1" dirty="0"/>
              <a:t> no es </a:t>
            </a:r>
            <a:r>
              <a:rPr sz="2000" b="1" dirty="0" err="1"/>
              <a:t>una</a:t>
            </a:r>
            <a:r>
              <a:rPr sz="2000" b="1" dirty="0"/>
              <a:t> </a:t>
            </a:r>
            <a:r>
              <a:rPr sz="2000" b="1" dirty="0" err="1"/>
              <a:t>sugerencia</a:t>
            </a:r>
            <a:r>
              <a:rPr sz="2000" b="1" dirty="0"/>
              <a:t>, </a:t>
            </a:r>
            <a:r>
              <a:rPr sz="2000" b="1" dirty="0" err="1"/>
              <a:t>sino</a:t>
            </a:r>
            <a:r>
              <a:rPr sz="2000" b="1" dirty="0"/>
              <a:t> </a:t>
            </a:r>
            <a:r>
              <a:rPr sz="2000" b="1" dirty="0" err="1"/>
              <a:t>una</a:t>
            </a:r>
            <a:r>
              <a:rPr sz="2000" b="1" dirty="0"/>
              <a:t> </a:t>
            </a:r>
            <a:r>
              <a:rPr sz="2000" b="1" dirty="0" err="1"/>
              <a:t>exigencia</a:t>
            </a:r>
            <a:r>
              <a:rPr sz="2000" b="1" dirty="0"/>
              <a:t> </a:t>
            </a:r>
            <a:r>
              <a:rPr sz="2000" b="1" dirty="0" err="1"/>
              <a:t>obligante</a:t>
            </a:r>
            <a:r>
              <a:rPr sz="2000" b="1" dirty="0"/>
              <a:t> </a:t>
            </a:r>
            <a:r>
              <a:rPr sz="2000" b="1" dirty="0" err="1"/>
              <a:t>que</a:t>
            </a:r>
            <a:r>
              <a:rPr sz="2000" b="1" dirty="0"/>
              <a:t> surge ante la </a:t>
            </a:r>
            <a:r>
              <a:rPr sz="2000" b="1" dirty="0" err="1"/>
              <a:t>presencia</a:t>
            </a:r>
            <a:r>
              <a:rPr sz="2000" b="1" dirty="0"/>
              <a:t> moral del </a:t>
            </a:r>
            <a:r>
              <a:rPr sz="2000" b="1" dirty="0" err="1"/>
              <a:t>otro</a:t>
            </a:r>
            <a:r>
              <a:rPr sz="2000" b="1" dirty="0"/>
              <a:t>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463040"/>
            <a:ext cx="5212080" cy="4983301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05295" y="1645920"/>
            <a:ext cx="46634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sz="2000" dirty="0"/>
              <a:t>El </a:t>
            </a:r>
            <a:r>
              <a:rPr sz="2000" dirty="0" err="1"/>
              <a:t>Desgarramiento</a:t>
            </a:r>
            <a:r>
              <a:rPr sz="2000" dirty="0"/>
              <a:t> Ético</a:t>
            </a:r>
          </a:p>
          <a:p>
            <a:pPr>
              <a:defRPr sz="15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Colisión</a:t>
            </a:r>
            <a:r>
              <a:rPr sz="2000" dirty="0"/>
              <a:t> de </a:t>
            </a:r>
            <a:r>
              <a:rPr lang="es-CL" sz="2000" dirty="0"/>
              <a:t>d</a:t>
            </a:r>
            <a:r>
              <a:rPr sz="2000" dirty="0" err="1"/>
              <a:t>eberes</a:t>
            </a:r>
            <a:r>
              <a:rPr sz="2000" dirty="0"/>
              <a:t>: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Se genera de </a:t>
            </a:r>
            <a:r>
              <a:rPr sz="2000" dirty="0" err="1"/>
              <a:t>manera</a:t>
            </a:r>
            <a:r>
              <a:rPr sz="2000" dirty="0"/>
              <a:t> </a:t>
            </a:r>
            <a:r>
              <a:rPr sz="2000" dirty="0" err="1"/>
              <a:t>dramática</a:t>
            </a:r>
            <a:r>
              <a:rPr sz="2000" dirty="0"/>
              <a:t> </a:t>
            </a:r>
            <a:r>
              <a:rPr sz="2000" dirty="0" err="1"/>
              <a:t>cuando</a:t>
            </a:r>
            <a:r>
              <a:rPr sz="2000" dirty="0"/>
              <a:t> un </a:t>
            </a:r>
            <a:r>
              <a:rPr sz="2000" dirty="0" err="1"/>
              <a:t>sujeto</a:t>
            </a:r>
            <a:r>
              <a:rPr sz="2000" dirty="0"/>
              <a:t> se </a:t>
            </a:r>
            <a:r>
              <a:rPr sz="2000" dirty="0" err="1"/>
              <a:t>enfrenta</a:t>
            </a:r>
            <a:r>
              <a:rPr sz="2000" dirty="0"/>
              <a:t> al </a:t>
            </a:r>
            <a:r>
              <a:rPr sz="2000" dirty="0" err="1"/>
              <a:t>dilema</a:t>
            </a:r>
            <a:r>
              <a:rPr sz="2000" dirty="0"/>
              <a:t> de responder de forma </a:t>
            </a:r>
            <a:r>
              <a:rPr sz="2000" dirty="0" err="1"/>
              <a:t>simultánea</a:t>
            </a:r>
            <a:r>
              <a:rPr sz="2000" dirty="0"/>
              <a:t> a dos </a:t>
            </a:r>
            <a:r>
              <a:rPr sz="2000" dirty="0" err="1"/>
              <a:t>deberes</a:t>
            </a:r>
            <a:r>
              <a:rPr sz="2000" dirty="0"/>
              <a:t> </a:t>
            </a:r>
            <a:r>
              <a:rPr sz="2000" dirty="0" err="1"/>
              <a:t>imperativos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se </a:t>
            </a:r>
            <a:r>
              <a:rPr sz="2000" dirty="0" err="1"/>
              <a:t>excluyen</a:t>
            </a:r>
            <a:r>
              <a:rPr sz="2000" dirty="0"/>
              <a:t> entre </a:t>
            </a:r>
            <a:r>
              <a:rPr sz="2000" dirty="0" err="1"/>
              <a:t>sí</a:t>
            </a:r>
            <a:r>
              <a:rPr sz="2000" dirty="0"/>
              <a:t>.</a:t>
            </a:r>
          </a:p>
          <a:p>
            <a:pPr>
              <a:defRPr sz="15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Inevitabilidad</a:t>
            </a:r>
            <a:r>
              <a:rPr sz="2000" dirty="0"/>
              <a:t> del </a:t>
            </a:r>
            <a:r>
              <a:rPr lang="es-CL" sz="2000" dirty="0"/>
              <a:t>c</a:t>
            </a:r>
            <a:r>
              <a:rPr sz="2000" dirty="0" err="1"/>
              <a:t>onflicto</a:t>
            </a:r>
            <a:r>
              <a:rPr sz="2000" dirty="0"/>
              <a:t>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Vivir con </a:t>
            </a:r>
            <a:r>
              <a:rPr sz="2000" dirty="0" err="1"/>
              <a:t>lucidez</a:t>
            </a:r>
            <a:r>
              <a:rPr sz="2000" dirty="0"/>
              <a:t> e </a:t>
            </a:r>
            <a:r>
              <a:rPr sz="2000" dirty="0" err="1"/>
              <a:t>implicarse</a:t>
            </a:r>
            <a:r>
              <a:rPr sz="2000" dirty="0"/>
              <a:t> en el </a:t>
            </a:r>
            <a:r>
              <a:rPr sz="2000" dirty="0" err="1"/>
              <a:t>mundo</a:t>
            </a:r>
            <a:r>
              <a:rPr sz="2000" dirty="0"/>
              <a:t> </a:t>
            </a:r>
            <a:r>
              <a:rPr sz="2000" dirty="0" err="1"/>
              <a:t>conlleva</a:t>
            </a:r>
            <a:r>
              <a:rPr sz="2000" dirty="0"/>
              <a:t> </a:t>
            </a:r>
            <a:r>
              <a:rPr sz="2000" dirty="0" err="1"/>
              <a:t>estar</a:t>
            </a:r>
            <a:r>
              <a:rPr sz="2000" dirty="0"/>
              <a:t> </a:t>
            </a:r>
            <a:r>
              <a:rPr sz="2000" dirty="0" err="1"/>
              <a:t>expuesto</a:t>
            </a:r>
            <a:r>
              <a:rPr sz="2000" dirty="0"/>
              <a:t> a </a:t>
            </a:r>
            <a:r>
              <a:rPr sz="2000" dirty="0" err="1"/>
              <a:t>situaciones</a:t>
            </a:r>
            <a:r>
              <a:rPr sz="2000" dirty="0"/>
              <a:t> </a:t>
            </a:r>
            <a:r>
              <a:rPr sz="2000" dirty="0" err="1"/>
              <a:t>moralmente</a:t>
            </a:r>
            <a:r>
              <a:rPr sz="2000" dirty="0"/>
              <a:t> </a:t>
            </a:r>
            <a:r>
              <a:rPr sz="2000" dirty="0" err="1"/>
              <a:t>desgarradoras</a:t>
            </a:r>
            <a:r>
              <a:rPr sz="2000" dirty="0"/>
              <a:t>. La </a:t>
            </a:r>
            <a:r>
              <a:rPr sz="2000" dirty="0" err="1"/>
              <a:t>madurez</a:t>
            </a:r>
            <a:r>
              <a:rPr sz="2000" dirty="0"/>
              <a:t> moral </a:t>
            </a:r>
            <a:r>
              <a:rPr sz="2000" dirty="0" err="1"/>
              <a:t>nos</a:t>
            </a:r>
            <a:r>
              <a:rPr sz="2000" dirty="0"/>
              <a:t> </a:t>
            </a:r>
            <a:r>
              <a:rPr sz="2000" dirty="0" err="1"/>
              <a:t>exige</a:t>
            </a:r>
            <a:r>
              <a:rPr sz="2000" dirty="0"/>
              <a:t> </a:t>
            </a:r>
            <a:r>
              <a:rPr sz="2000" dirty="0" err="1"/>
              <a:t>discernir</a:t>
            </a:r>
            <a:r>
              <a:rPr sz="2000" dirty="0"/>
              <a:t> y </a:t>
            </a:r>
            <a:r>
              <a:rPr sz="2000" dirty="0" err="1"/>
              <a:t>decidir</a:t>
            </a:r>
            <a:r>
              <a:rPr sz="2000" dirty="0"/>
              <a:t> </a:t>
            </a:r>
            <a:r>
              <a:rPr sz="2000" dirty="0" err="1"/>
              <a:t>incluso</a:t>
            </a:r>
            <a:r>
              <a:rPr sz="2000" dirty="0"/>
              <a:t> bajo la </a:t>
            </a:r>
            <a:r>
              <a:rPr sz="2000" dirty="0" err="1"/>
              <a:t>angustia</a:t>
            </a:r>
            <a:r>
              <a:rPr sz="2000" dirty="0"/>
              <a:t> del </a:t>
            </a:r>
            <a:r>
              <a:rPr sz="2000" dirty="0" err="1"/>
              <a:t>desgarramiento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La Regla de Oro y la Exclusión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El imperativo de mínimos y sus fracasos históricos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5752" cy="4937760"/>
          </a:xfrm>
          <a:prstGeom prst="roundRect">
            <a:avLst/>
          </a:prstGeom>
          <a:solidFill>
            <a:srgbClr val="F9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37360" y="1920240"/>
            <a:ext cx="8714232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800" b="1" i="1">
                <a:solidFill>
                  <a:srgbClr val="C85A32"/>
                </a:solidFill>
                <a:latin typeface="Georgia"/>
              </a:defRPr>
            </a:pPr>
            <a:r>
              <a:rPr dirty="0"/>
              <a:t>“No </a:t>
            </a:r>
            <a:r>
              <a:rPr dirty="0" err="1"/>
              <a:t>hagas</a:t>
            </a:r>
            <a:r>
              <a:rPr dirty="0"/>
              <a:t> a </a:t>
            </a:r>
            <a:r>
              <a:rPr dirty="0" err="1"/>
              <a:t>otro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quieras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hagan</a:t>
            </a:r>
            <a:r>
              <a:rPr dirty="0"/>
              <a:t> a </a:t>
            </a:r>
            <a:r>
              <a:rPr dirty="0" err="1"/>
              <a:t>ti</a:t>
            </a:r>
            <a:r>
              <a:rPr dirty="0"/>
              <a:t>.”</a:t>
            </a:r>
            <a:r>
              <a:rPr lang="es-CL" dirty="0"/>
              <a:t> o “Haz a los demás lo que te gustaría que hicieran contigo.”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/>
              <a:t>• </a:t>
            </a:r>
            <a:r>
              <a:rPr sz="2000" b="1" dirty="0" err="1"/>
              <a:t>Imperativo</a:t>
            </a:r>
            <a:r>
              <a:rPr sz="2000" b="1" dirty="0"/>
              <a:t> de </a:t>
            </a:r>
            <a:r>
              <a:rPr sz="2000" b="1" dirty="0" err="1"/>
              <a:t>Mínimos</a:t>
            </a:r>
            <a:r>
              <a:rPr sz="2000" b="1" dirty="0"/>
              <a:t>: </a:t>
            </a:r>
            <a:r>
              <a:rPr sz="2000" dirty="0" err="1"/>
              <a:t>Representa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orientación</a:t>
            </a:r>
            <a:r>
              <a:rPr sz="2000" dirty="0"/>
              <a:t> transcultural y atemporal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prohíbe</a:t>
            </a:r>
            <a:r>
              <a:rPr sz="2000" dirty="0"/>
              <a:t> la </a:t>
            </a:r>
            <a:r>
              <a:rPr sz="2000" dirty="0" err="1"/>
              <a:t>excepción</a:t>
            </a:r>
            <a:r>
              <a:rPr sz="2000" dirty="0"/>
              <a:t> </a:t>
            </a:r>
            <a:r>
              <a:rPr sz="2000" dirty="0" err="1"/>
              <a:t>subjetiva</a:t>
            </a:r>
            <a:r>
              <a:rPr sz="2000" dirty="0"/>
              <a:t>, </a:t>
            </a:r>
            <a:r>
              <a:rPr sz="2000" dirty="0" err="1"/>
              <a:t>estableciendo</a:t>
            </a:r>
            <a:r>
              <a:rPr sz="2000" dirty="0"/>
              <a:t> la </a:t>
            </a:r>
            <a:r>
              <a:rPr sz="2000" dirty="0" err="1"/>
              <a:t>obligación</a:t>
            </a:r>
            <a:r>
              <a:rPr sz="2000" dirty="0"/>
              <a:t> primordial de no </a:t>
            </a:r>
            <a:r>
              <a:rPr sz="2000" dirty="0" err="1"/>
              <a:t>dañar</a:t>
            </a:r>
            <a:r>
              <a:rPr sz="2000" dirty="0"/>
              <a:t>.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b="1" dirty="0"/>
              <a:t>• </a:t>
            </a:r>
            <a:r>
              <a:rPr sz="2000" b="1" dirty="0" err="1"/>
              <a:t>Crítica</a:t>
            </a:r>
            <a:r>
              <a:rPr sz="2000" b="1" dirty="0"/>
              <a:t> </a:t>
            </a:r>
            <a:r>
              <a:rPr sz="2000" b="1" dirty="0" err="1"/>
              <a:t>Histórica</a:t>
            </a:r>
            <a:r>
              <a:rPr sz="2000" b="1" dirty="0"/>
              <a:t> de la </a:t>
            </a:r>
            <a:r>
              <a:rPr sz="2000" b="1" dirty="0" err="1"/>
              <a:t>Exclusión</a:t>
            </a:r>
            <a:r>
              <a:rPr sz="2000" b="1" dirty="0"/>
              <a:t>: </a:t>
            </a:r>
            <a:r>
              <a:rPr sz="2000" dirty="0"/>
              <a:t>A </a:t>
            </a:r>
            <a:r>
              <a:rPr sz="2000" dirty="0" err="1"/>
              <a:t>pesar</a:t>
            </a:r>
            <a:r>
              <a:rPr sz="2000" dirty="0"/>
              <a:t> de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carácter</a:t>
            </a:r>
            <a:r>
              <a:rPr sz="2000" dirty="0"/>
              <a:t> universal, la </a:t>
            </a:r>
            <a:r>
              <a:rPr sz="2000" dirty="0" err="1"/>
              <a:t>historia</a:t>
            </a:r>
            <a:r>
              <a:rPr sz="2000" dirty="0"/>
              <a:t> humana </a:t>
            </a:r>
            <a:r>
              <a:rPr sz="2000" dirty="0" err="1"/>
              <a:t>muestra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continua </a:t>
            </a:r>
            <a:r>
              <a:rPr sz="2000" dirty="0" err="1"/>
              <a:t>exclusión</a:t>
            </a:r>
            <a:r>
              <a:rPr sz="2000" dirty="0"/>
              <a:t> de </a:t>
            </a:r>
            <a:r>
              <a:rPr sz="2000" dirty="0" err="1"/>
              <a:t>grupos</a:t>
            </a:r>
            <a:r>
              <a:rPr sz="2000" dirty="0"/>
              <a:t> </a:t>
            </a:r>
            <a:r>
              <a:rPr sz="2000" dirty="0" err="1"/>
              <a:t>enteros</a:t>
            </a:r>
            <a:r>
              <a:rPr sz="2000" dirty="0"/>
              <a:t> de </a:t>
            </a:r>
            <a:r>
              <a:rPr sz="2000" dirty="0" err="1"/>
              <a:t>este</a:t>
            </a:r>
            <a:r>
              <a:rPr sz="2000" dirty="0"/>
              <a:t> </a:t>
            </a:r>
            <a:r>
              <a:rPr sz="2000" dirty="0" err="1"/>
              <a:t>estatus</a:t>
            </a:r>
            <a:r>
              <a:rPr sz="2000" dirty="0"/>
              <a:t> de '</a:t>
            </a:r>
            <a:r>
              <a:rPr sz="2000" dirty="0" err="1"/>
              <a:t>Otro</a:t>
            </a:r>
            <a:r>
              <a:rPr sz="2000" dirty="0"/>
              <a:t>'. </a:t>
            </a:r>
            <a:r>
              <a:rPr sz="2000" dirty="0" err="1"/>
              <a:t>Quien</a:t>
            </a:r>
            <a:r>
              <a:rPr sz="2000" dirty="0"/>
              <a:t> </a:t>
            </a:r>
            <a:r>
              <a:rPr sz="2000" dirty="0" err="1"/>
              <a:t>ejerce</a:t>
            </a:r>
            <a:r>
              <a:rPr sz="2000" dirty="0"/>
              <a:t> el </a:t>
            </a:r>
            <a:r>
              <a:rPr sz="2000" dirty="0" err="1"/>
              <a:t>poder</a:t>
            </a:r>
            <a:r>
              <a:rPr sz="2000" dirty="0"/>
              <a:t> redefine </a:t>
            </a:r>
            <a:r>
              <a:rPr sz="2000" dirty="0" err="1"/>
              <a:t>quién</a:t>
            </a:r>
            <a:r>
              <a:rPr sz="2000" dirty="0"/>
              <a:t> </a:t>
            </a:r>
            <a:r>
              <a:rPr sz="2000" dirty="0" err="1"/>
              <a:t>califica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un </a:t>
            </a:r>
            <a:r>
              <a:rPr sz="2000" dirty="0" err="1"/>
              <a:t>otro</a:t>
            </a:r>
            <a:r>
              <a:rPr sz="2000" dirty="0"/>
              <a:t> </a:t>
            </a:r>
            <a:r>
              <a:rPr sz="2000" dirty="0" err="1"/>
              <a:t>digno</a:t>
            </a:r>
            <a:r>
              <a:rPr sz="2000" dirty="0"/>
              <a:t> de </a:t>
            </a:r>
            <a:r>
              <a:rPr sz="2000" dirty="0" err="1"/>
              <a:t>recibir</a:t>
            </a:r>
            <a:r>
              <a:rPr sz="2000" dirty="0"/>
              <a:t> el </a:t>
            </a:r>
            <a:r>
              <a:rPr sz="2000" dirty="0" err="1"/>
              <a:t>trato</a:t>
            </a:r>
            <a:r>
              <a:rPr sz="2000" dirty="0"/>
              <a:t> de la </a:t>
            </a:r>
            <a:r>
              <a:rPr sz="2000" dirty="0" err="1"/>
              <a:t>regla</a:t>
            </a:r>
            <a:r>
              <a:rPr sz="2000" dirty="0"/>
              <a:t>, </a:t>
            </a:r>
            <a:r>
              <a:rPr sz="2000" dirty="0" err="1"/>
              <a:t>cometiendo</a:t>
            </a:r>
            <a:r>
              <a:rPr sz="2000" dirty="0"/>
              <a:t> </a:t>
            </a:r>
            <a:r>
              <a:rPr sz="2000" dirty="0" err="1"/>
              <a:t>crímenes</a:t>
            </a:r>
            <a:r>
              <a:rPr sz="2000" dirty="0"/>
              <a:t> morales </a:t>
            </a:r>
            <a:r>
              <a:rPr sz="2000" dirty="0" err="1"/>
              <a:t>masivos</a:t>
            </a:r>
            <a:r>
              <a:rPr sz="2000" dirty="0"/>
              <a:t> bajo la </a:t>
            </a:r>
            <a:r>
              <a:rPr sz="2000" dirty="0" err="1"/>
              <a:t>deshumanización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rPr dirty="0"/>
              <a:t>La </a:t>
            </a:r>
            <a:r>
              <a:rPr dirty="0" err="1"/>
              <a:t>Proximidad</a:t>
            </a:r>
            <a:r>
              <a:rPr dirty="0"/>
              <a:t> y la Ética de la </a:t>
            </a:r>
            <a:r>
              <a:rPr dirty="0" err="1"/>
              <a:t>Alteridad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rPr dirty="0"/>
              <a:t>El rostro del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fundamento</a:t>
            </a:r>
            <a:r>
              <a:rPr dirty="0"/>
              <a:t> del </a:t>
            </a:r>
            <a:r>
              <a:rPr dirty="0" err="1"/>
              <a:t>deber</a:t>
            </a:r>
            <a:r>
              <a:rPr lang="es-CL" dirty="0"/>
              <a:t> (Emanuelle </a:t>
            </a:r>
            <a:r>
              <a:rPr lang="es-CL" dirty="0" err="1"/>
              <a:t>Levinas</a:t>
            </a:r>
            <a:r>
              <a:rPr lang="es-CL" dirty="0"/>
              <a:t>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EB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2A3B4C"/>
                </a:solidFill>
                <a:latin typeface="Georgia"/>
              </a:defRPr>
            </a:pPr>
            <a:r>
              <a:rPr dirty="0"/>
              <a:t>La Presencia del </a:t>
            </a:r>
            <a:r>
              <a:rPr dirty="0" err="1"/>
              <a:t>Otro</a:t>
            </a:r>
            <a:endParaRPr dirty="0"/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En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una</a:t>
            </a:r>
            <a:r>
              <a:rPr sz="2000" dirty="0"/>
              <a:t> de </a:t>
            </a:r>
            <a:r>
              <a:rPr sz="2000" dirty="0" err="1"/>
              <a:t>nuestras</a:t>
            </a:r>
            <a:r>
              <a:rPr sz="2000" dirty="0"/>
              <a:t> </a:t>
            </a:r>
            <a:r>
              <a:rPr sz="2000" dirty="0" err="1"/>
              <a:t>acciones</a:t>
            </a:r>
            <a:r>
              <a:rPr sz="2000" dirty="0"/>
              <a:t> </a:t>
            </a:r>
            <a:r>
              <a:rPr sz="2000" dirty="0" err="1"/>
              <a:t>están</a:t>
            </a:r>
            <a:r>
              <a:rPr sz="2000" dirty="0"/>
              <a:t> </a:t>
            </a:r>
            <a:r>
              <a:rPr sz="2000" dirty="0" err="1"/>
              <a:t>intrínsecamente</a:t>
            </a:r>
            <a:r>
              <a:rPr sz="2000" dirty="0"/>
              <a:t> </a:t>
            </a:r>
            <a:r>
              <a:rPr sz="2000" dirty="0" err="1"/>
              <a:t>implicados</a:t>
            </a:r>
            <a:r>
              <a:rPr sz="2000" dirty="0"/>
              <a:t> tanto el </a:t>
            </a:r>
            <a:r>
              <a:rPr sz="2000" dirty="0" err="1"/>
              <a:t>yo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el </a:t>
            </a:r>
            <a:r>
              <a:rPr sz="2000" dirty="0" err="1"/>
              <a:t>otro</a:t>
            </a:r>
            <a:r>
              <a:rPr sz="2000" dirty="0"/>
              <a:t>. El </a:t>
            </a:r>
            <a:r>
              <a:rPr sz="2000" dirty="0" err="1"/>
              <a:t>otro</a:t>
            </a:r>
            <a:r>
              <a:rPr sz="2000" dirty="0"/>
              <a:t> no es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abstracción</a:t>
            </a:r>
            <a:r>
              <a:rPr sz="2000" dirty="0"/>
              <a:t>, es un rostro </a:t>
            </a:r>
            <a:r>
              <a:rPr sz="2000" dirty="0" err="1"/>
              <a:t>concreto</a:t>
            </a:r>
            <a:r>
              <a:rPr sz="2000" dirty="0"/>
              <a:t>.</a:t>
            </a:r>
          </a:p>
          <a:p>
            <a:pPr>
              <a:defRPr sz="1500" b="1">
                <a:solidFill>
                  <a:srgbClr val="C85A32"/>
                </a:solidFill>
                <a:latin typeface="Arial"/>
              </a:defRPr>
            </a:pPr>
            <a:r>
              <a:rPr sz="2000" dirty="0"/>
              <a:t>• </a:t>
            </a:r>
            <a:r>
              <a:rPr sz="2000" dirty="0" err="1"/>
              <a:t>Responsabilidad</a:t>
            </a:r>
            <a:r>
              <a:rPr sz="2000" dirty="0"/>
              <a:t> Radical: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La </a:t>
            </a:r>
            <a:r>
              <a:rPr sz="2000" dirty="0" err="1"/>
              <a:t>proximidad</a:t>
            </a:r>
            <a:r>
              <a:rPr sz="2000" dirty="0"/>
              <a:t> del </a:t>
            </a:r>
            <a:r>
              <a:rPr sz="2000" dirty="0" err="1"/>
              <a:t>otro</a:t>
            </a:r>
            <a:r>
              <a:rPr sz="2000" dirty="0"/>
              <a:t> </a:t>
            </a:r>
            <a:r>
              <a:rPr sz="2000" dirty="0" err="1"/>
              <a:t>nos</a:t>
            </a:r>
            <a:r>
              <a:rPr sz="2000" dirty="0"/>
              <a:t> </a:t>
            </a:r>
            <a:r>
              <a:rPr sz="2000" dirty="0" err="1"/>
              <a:t>exige</a:t>
            </a:r>
            <a:r>
              <a:rPr sz="2000" dirty="0"/>
              <a:t> </a:t>
            </a:r>
            <a:r>
              <a:rPr sz="2000" dirty="0" err="1"/>
              <a:t>hacernos</a:t>
            </a:r>
            <a:r>
              <a:rPr sz="2000" dirty="0"/>
              <a:t> cargo, </a:t>
            </a:r>
            <a:r>
              <a:rPr sz="2000" dirty="0" err="1"/>
              <a:t>respondiendo</a:t>
            </a:r>
            <a:r>
              <a:rPr sz="2000" dirty="0"/>
              <a:t> </a:t>
            </a:r>
            <a:r>
              <a:rPr sz="2000" dirty="0" err="1"/>
              <a:t>éticamente</a:t>
            </a:r>
            <a:r>
              <a:rPr sz="2000" dirty="0"/>
              <a:t> a </a:t>
            </a:r>
            <a:r>
              <a:rPr sz="2000" dirty="0" err="1"/>
              <a:t>su</a:t>
            </a:r>
            <a:r>
              <a:rPr sz="2000" dirty="0"/>
              <a:t> </a:t>
            </a:r>
            <a:r>
              <a:rPr sz="2000" dirty="0" err="1"/>
              <a:t>vulnerabilidad</a:t>
            </a:r>
            <a:r>
              <a:rPr sz="2000" dirty="0"/>
              <a:t>. Mi </a:t>
            </a:r>
            <a:r>
              <a:rPr sz="2000" dirty="0" err="1"/>
              <a:t>existencia</a:t>
            </a:r>
            <a:r>
              <a:rPr sz="2000" dirty="0"/>
              <a:t> se </a:t>
            </a:r>
            <a:r>
              <a:rPr sz="2000" dirty="0" err="1"/>
              <a:t>valida</a:t>
            </a:r>
            <a:r>
              <a:rPr sz="2000" dirty="0"/>
              <a:t> y se </a:t>
            </a:r>
            <a:r>
              <a:rPr sz="2000" dirty="0" err="1"/>
              <a:t>hace</a:t>
            </a:r>
            <a:r>
              <a:rPr sz="2000" dirty="0"/>
              <a:t> </a:t>
            </a:r>
            <a:r>
              <a:rPr sz="2000" dirty="0" err="1"/>
              <a:t>responsable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él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85A32"/>
                </a:solidFill>
                <a:latin typeface="Georgia"/>
              </a:defRPr>
            </a:pPr>
            <a:r>
              <a:rPr dirty="0"/>
              <a:t>La </a:t>
            </a:r>
            <a:r>
              <a:rPr dirty="0" err="1"/>
              <a:t>Supresión</a:t>
            </a:r>
            <a:r>
              <a:rPr dirty="0"/>
              <a:t> de la Ética</a:t>
            </a:r>
          </a:p>
          <a:p>
            <a:pPr>
              <a:spcAft>
                <a:spcPts val="1200"/>
              </a:spcAft>
              <a:defRPr sz="1500">
                <a:solidFill>
                  <a:srgbClr val="2B2B2B"/>
                </a:solidFill>
                <a:latin typeface="Arial"/>
              </a:defRPr>
            </a:pPr>
            <a:r>
              <a:rPr sz="2000" dirty="0" err="1"/>
              <a:t>Fenómenos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la </a:t>
            </a:r>
            <a:r>
              <a:rPr sz="2000" dirty="0" err="1"/>
              <a:t>guerra</a:t>
            </a:r>
            <a:r>
              <a:rPr sz="2000" dirty="0"/>
              <a:t> o la </a:t>
            </a:r>
            <a:r>
              <a:rPr sz="2000" dirty="0" err="1"/>
              <a:t>cosificación</a:t>
            </a:r>
            <a:r>
              <a:rPr sz="2000" dirty="0"/>
              <a:t> </a:t>
            </a:r>
            <a:r>
              <a:rPr sz="2000" dirty="0" err="1"/>
              <a:t>sistémica</a:t>
            </a:r>
            <a:r>
              <a:rPr sz="2000" dirty="0"/>
              <a:t> </a:t>
            </a:r>
            <a:r>
              <a:rPr sz="2000" dirty="0" err="1"/>
              <a:t>anulan</a:t>
            </a:r>
            <a:r>
              <a:rPr sz="2000" dirty="0"/>
              <a:t> </a:t>
            </a:r>
            <a:r>
              <a:rPr sz="2000" dirty="0" err="1"/>
              <a:t>activamente</a:t>
            </a:r>
            <a:r>
              <a:rPr sz="2000" dirty="0"/>
              <a:t> el </a:t>
            </a:r>
            <a:r>
              <a:rPr sz="2000" dirty="0" err="1"/>
              <a:t>encuentro</a:t>
            </a:r>
            <a:r>
              <a:rPr sz="2000" dirty="0"/>
              <a:t> </a:t>
            </a:r>
            <a:r>
              <a:rPr sz="2000" dirty="0" err="1"/>
              <a:t>cara</a:t>
            </a:r>
            <a:r>
              <a:rPr sz="2000" dirty="0"/>
              <a:t> a </a:t>
            </a:r>
            <a:r>
              <a:rPr sz="2000" dirty="0" err="1"/>
              <a:t>cara</a:t>
            </a:r>
            <a:r>
              <a:rPr sz="2000" dirty="0"/>
              <a:t>.</a:t>
            </a:r>
          </a:p>
          <a:p>
            <a:pPr>
              <a:defRPr sz="1500" b="1">
                <a:solidFill>
                  <a:srgbClr val="2A3B4C"/>
                </a:solidFill>
                <a:latin typeface="Arial"/>
              </a:defRPr>
            </a:pPr>
            <a:r>
              <a:rPr sz="2000" dirty="0"/>
              <a:t>• La </a:t>
            </a:r>
            <a:r>
              <a:rPr lang="es-CL" sz="2000" dirty="0"/>
              <a:t>d</a:t>
            </a:r>
            <a:r>
              <a:rPr sz="2000" dirty="0" err="1"/>
              <a:t>eshumanización</a:t>
            </a:r>
            <a:r>
              <a:rPr sz="2000" dirty="0"/>
              <a:t>: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rPr sz="2000" dirty="0"/>
              <a:t>Al </a:t>
            </a:r>
            <a:r>
              <a:rPr sz="2000" dirty="0" err="1"/>
              <a:t>impedir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el </a:t>
            </a:r>
            <a:r>
              <a:rPr sz="2000" dirty="0" err="1"/>
              <a:t>otro</a:t>
            </a:r>
            <a:r>
              <a:rPr sz="2000" dirty="0"/>
              <a:t> </a:t>
            </a:r>
            <a:r>
              <a:rPr sz="2000" dirty="0" err="1"/>
              <a:t>aparezca</a:t>
            </a:r>
            <a:r>
              <a:rPr sz="2000" dirty="0"/>
              <a:t> </a:t>
            </a:r>
            <a:r>
              <a:rPr sz="2000" dirty="0" err="1"/>
              <a:t>tal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es y </a:t>
            </a:r>
            <a:r>
              <a:rPr sz="2000" dirty="0" err="1"/>
              <a:t>privarlo</a:t>
            </a:r>
            <a:r>
              <a:rPr sz="2000" dirty="0"/>
              <a:t> de </a:t>
            </a:r>
            <a:r>
              <a:rPr sz="2000" dirty="0" err="1"/>
              <a:t>su</a:t>
            </a:r>
            <a:r>
              <a:rPr sz="2000" dirty="0"/>
              <a:t> rostro y palabra </a:t>
            </a:r>
            <a:r>
              <a:rPr sz="2000" dirty="0" err="1"/>
              <a:t>singulares</a:t>
            </a:r>
            <a:r>
              <a:rPr sz="2000" dirty="0"/>
              <a:t>, se </a:t>
            </a:r>
            <a:r>
              <a:rPr sz="2000" dirty="0" err="1"/>
              <a:t>suprime</a:t>
            </a:r>
            <a:r>
              <a:rPr sz="2000" dirty="0"/>
              <a:t> la </a:t>
            </a:r>
            <a:r>
              <a:rPr sz="2000" dirty="0" err="1"/>
              <a:t>responsabilidad</a:t>
            </a:r>
            <a:r>
              <a:rPr sz="2000" dirty="0"/>
              <a:t> </a:t>
            </a:r>
            <a:r>
              <a:rPr sz="2000" dirty="0" err="1"/>
              <a:t>ética</a:t>
            </a:r>
            <a:r>
              <a:rPr sz="2000" dirty="0"/>
              <a:t>. El </a:t>
            </a:r>
            <a:r>
              <a:rPr sz="2000" dirty="0" err="1"/>
              <a:t>otro</a:t>
            </a:r>
            <a:r>
              <a:rPr sz="2000" dirty="0"/>
              <a:t> </a:t>
            </a:r>
            <a:r>
              <a:rPr sz="2000" dirty="0" err="1"/>
              <a:t>pasa</a:t>
            </a:r>
            <a:r>
              <a:rPr sz="2000" dirty="0"/>
              <a:t> a ser un </a:t>
            </a:r>
            <a:r>
              <a:rPr sz="2000" dirty="0" err="1"/>
              <a:t>obstáculo</a:t>
            </a:r>
            <a:r>
              <a:rPr sz="2000" dirty="0"/>
              <a:t>, un </a:t>
            </a:r>
            <a:r>
              <a:rPr sz="2000" dirty="0" err="1"/>
              <a:t>enemigo</a:t>
            </a:r>
            <a:r>
              <a:rPr sz="2000" dirty="0"/>
              <a:t> o un </a:t>
            </a:r>
            <a:r>
              <a:rPr sz="2000" dirty="0" err="1"/>
              <a:t>número</a:t>
            </a:r>
            <a:r>
              <a:rPr sz="2000" dirty="0"/>
              <a:t> en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lista</a:t>
            </a:r>
            <a:r>
              <a:rPr sz="2000" dirty="0"/>
              <a:t> </a:t>
            </a:r>
            <a:r>
              <a:rPr sz="2000" dirty="0" err="1"/>
              <a:t>diagnóstica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2A3B4C"/>
                </a:solidFill>
                <a:latin typeface="Georgia"/>
              </a:defRPr>
            </a:pPr>
            <a:r>
              <a:t>La Visión Teleológica Aristotélica</a:t>
            </a:r>
          </a:p>
          <a:p>
            <a:pPr>
              <a:spcBef>
                <a:spcPts val="400"/>
              </a:spcBef>
              <a:defRPr sz="1400">
                <a:solidFill>
                  <a:srgbClr val="7E766D"/>
                </a:solidFill>
                <a:latin typeface="Arial"/>
              </a:defRPr>
            </a:pPr>
            <a:r>
              <a:t>De la potencia al acto para florecer en nuestra esencia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1905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evron 4"/>
          <p:cNvSpPr/>
          <p:nvPr/>
        </p:nvSpPr>
        <p:spPr>
          <a:xfrm>
            <a:off x="4023360" y="2834640"/>
            <a:ext cx="365760" cy="548640"/>
          </a:xfrm>
          <a:prstGeom prst="chevron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t>La Potencia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t>Las capacidades y posibilidades inherentes al ser que esperan ser activamente desarrolladas.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373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hevron 7"/>
          <p:cNvSpPr/>
          <p:nvPr/>
        </p:nvSpPr>
        <p:spPr>
          <a:xfrm>
            <a:off x="7772400" y="2834640"/>
            <a:ext cx="365760" cy="548640"/>
          </a:xfrm>
          <a:prstGeom prst="chevron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t>El Acto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t>El proceso dinámico y constructivo de materialización y actualización de dichas posibilidades.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7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t>El Ergon</a:t>
            </a:r>
          </a:p>
          <a:p>
            <a:pPr>
              <a:defRPr sz="1400">
                <a:solidFill>
                  <a:srgbClr val="2B2B2B"/>
                </a:solidFill>
                <a:latin typeface="Arial"/>
              </a:defRPr>
            </a:pPr>
            <a:r>
              <a:t>El fin o la función específica plenamente lograda de un ente; el florecimiento y realización máxima.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2A3B4C"/>
                </a:solidFill>
                <a:latin typeface="Georgia"/>
              </a:defRPr>
            </a:pPr>
            <a:r>
              <a:t>“Todos los entes tienen una tendencia intrínseca a realizar su fin propio.”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2033</Words>
  <Application>Microsoft Office PowerPoint</Application>
  <PresentationFormat>Panorámica</PresentationFormat>
  <Paragraphs>168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Francisco De Ferari Correa</dc:creator>
  <cp:keywords/>
  <dc:description>generated using python-pptx</dc:description>
  <cp:lastModifiedBy>Francisco Jose De ferari Correa</cp:lastModifiedBy>
  <cp:revision>3</cp:revision>
  <dcterms:created xsi:type="dcterms:W3CDTF">2013-01-27T09:14:16Z</dcterms:created>
  <dcterms:modified xsi:type="dcterms:W3CDTF">2026-08-31T02:34:37Z</dcterms:modified>
  <cp:category/>
</cp:coreProperties>
</file>